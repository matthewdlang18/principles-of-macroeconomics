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0"/>
  </p:notesMasterIdLst>
  <p:sldIdLst>
    <p:sldId id="483" r:id="rId2"/>
    <p:sldId id="545" r:id="rId3"/>
    <p:sldId id="550" r:id="rId4"/>
    <p:sldId id="551" r:id="rId5"/>
    <p:sldId id="554" r:id="rId6"/>
    <p:sldId id="596" r:id="rId7"/>
    <p:sldId id="555" r:id="rId8"/>
    <p:sldId id="557" r:id="rId9"/>
    <p:sldId id="558" r:id="rId10"/>
    <p:sldId id="559" r:id="rId11"/>
    <p:sldId id="560" r:id="rId12"/>
    <p:sldId id="561" r:id="rId13"/>
    <p:sldId id="562" r:id="rId14"/>
    <p:sldId id="563" r:id="rId15"/>
    <p:sldId id="564" r:id="rId16"/>
    <p:sldId id="565" r:id="rId17"/>
    <p:sldId id="566" r:id="rId18"/>
    <p:sldId id="567" r:id="rId19"/>
    <p:sldId id="568" r:id="rId20"/>
    <p:sldId id="569" r:id="rId21"/>
    <p:sldId id="570" r:id="rId22"/>
    <p:sldId id="593" r:id="rId23"/>
    <p:sldId id="583" r:id="rId24"/>
    <p:sldId id="592" r:id="rId25"/>
    <p:sldId id="585" r:id="rId26"/>
    <p:sldId id="587" r:id="rId27"/>
    <p:sldId id="588" r:id="rId28"/>
    <p:sldId id="589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02"/>
    <p:restoredTop sz="94726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189DB-D2D4-4757-B07C-3C6A30EBBB3C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B1FA-4B5C-4D10-B6DA-0D032591A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5B1FA-4B5C-4D10-B6DA-0D032591AB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5B1FA-4B5C-4D10-B6DA-0D032591AB8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2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B3040-1989-5A04-D01D-E7D38161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9F1A0-0170-35DE-AA51-E00D44949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B55BE-8A28-52C2-46E8-689640E9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F93FBF-171A-4B98-997C-FF70A455B85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195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4AB2-48AF-97DE-A28F-6F6F2119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F88CD-D40E-B41E-98F6-9D19C3FD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0BF6-65D9-4EAF-A89E-B719E683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CE0D06-5597-45C4-9B0A-1E1EEAD302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37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FF02E-102D-737D-37EF-A191A346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5F866-0326-282D-FCB6-F3F533EB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E43E-B069-0EF9-A165-205D167B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D39462-BE44-4C6E-B2E1-B85B28DF47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84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819BCA3-DC28-303D-6F72-B4ED86A7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21F701-C517-EAB2-B9B7-5B1C2384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4C632E-6617-647A-602A-6E498A1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58CAB9-A740-4DC6-9EA9-387AF4B90D7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70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27B29B1-6928-886F-23BD-13627659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BF5E8A-480C-A8B0-AF76-7E6A11F1A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42BD88-C050-EBAF-BDF8-F6AB8E2F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36B70-150C-49DD-8581-084AFB122F0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061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919248A-0834-A1F9-89A0-D2DD6747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7D46AA7-B2C7-398A-D4A9-FA6CB1327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A34842D-5209-7807-271E-8F837255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04C4CD-67AF-47E9-A3BF-1D95C5CF024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56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32B97F8-A2CF-5E99-F844-3DEC4115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5699331-8DCD-A64C-76DF-9178B197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77E4EE-EB31-0A63-297E-54273D26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E5E28-145B-48A8-B09C-BE0EF6FC9F2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256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EF195E2-6E99-1391-E991-7827BEDB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A7ED35-9D96-FB80-1807-74C2C3E6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3B5450-512D-8E4C-9797-E5652F75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F6ED46-894D-4B03-B3C6-95950A70FC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248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75A75E3-2F51-A375-E17C-6739ACDD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BAAA23-DCB3-C01A-E5F5-331D6443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C02D1A-0FF8-36D6-A13D-22864BF9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F03974-D94D-40F5-99B9-21D403FC132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30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392A-A33D-46E6-7156-2D13744E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9B73-0DC7-9EA0-144F-18338EB43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9BE3-27A2-6F6C-1017-BA40CE14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23AD4-4F15-4E76-9AC7-1E3768BD0E5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22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55232-F962-91B7-FE2A-27F423DF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74F9C-9383-CFCD-C25B-BDF81500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E3B66-9E69-57DC-A31E-7C31C488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AB973-DC7D-488D-9389-0822689EA8C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3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D316CF7A-9C3E-EC78-D665-EAB17BE49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FA1F9EFA-3F9E-E487-4DE0-B5467864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0E298-0E1E-6956-561B-C2155A2E5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AD89D-703D-7703-2A40-A238E777C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748D6-2171-F631-68F0-05EA782FD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fld id="{C53BE90A-212E-461A-904C-ACDD425AB48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46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5pPr>
      <a:lvl6pPr marL="342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6pPr>
      <a:lvl7pPr marL="685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7pPr>
      <a:lvl8pPr marL="10287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8pPr>
      <a:lvl9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171450" indent="-171450" algn="l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66F9E31-547D-3C83-F50E-22A3CCAF9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9" r="1263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56F7A28-6A00-B5BC-AE08-44D4CDE7621A}"/>
              </a:ext>
            </a:extLst>
          </p:cNvPr>
          <p:cNvSpPr txBox="1">
            <a:spLocks/>
          </p:cNvSpPr>
          <p:nvPr/>
        </p:nvSpPr>
        <p:spPr bwMode="auto">
          <a:xfrm>
            <a:off x="-4482" y="712833"/>
            <a:ext cx="914400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  <a:lvl6pPr marL="342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6pPr>
            <a:lvl7pPr marL="685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7pPr>
            <a:lvl8pPr marL="10287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8pPr>
            <a:lvl9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ptos Display" panose="020B0004020202020204" pitchFamily="34" charset="0"/>
              </a:defRPr>
            </a:lvl9pPr>
          </a:lstStyle>
          <a:p>
            <a:r>
              <a:rPr lang="en-US" dirty="0">
                <a:solidFill>
                  <a:srgbClr val="FFFF00"/>
                </a:solidFill>
                <a:effectLst>
                  <a:glow rad="1397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rPr>
              <a:t>Econ 2</a:t>
            </a:r>
            <a:br>
              <a:rPr lang="en-US" dirty="0">
                <a:solidFill>
                  <a:srgbClr val="FFFF00"/>
                </a:solidFill>
                <a:effectLst>
                  <a:glow rad="1397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rPr>
            </a:br>
            <a:r>
              <a:rPr lang="en-US" dirty="0">
                <a:solidFill>
                  <a:srgbClr val="FFFF00"/>
                </a:solidFill>
                <a:effectLst>
                  <a:glow rad="139700">
                    <a:schemeClr val="tx2">
                      <a:lumMod val="75000"/>
                      <a:lumOff val="25000"/>
                      <a:alpha val="40000"/>
                    </a:schemeClr>
                  </a:glow>
                </a:effectLst>
              </a:rPr>
              <a:t>Principles of Macroeconomics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1839E-AC3B-0A67-42B6-A1AEC1A2319E}"/>
              </a:ext>
            </a:extLst>
          </p:cNvPr>
          <p:cNvSpPr txBox="1"/>
          <p:nvPr/>
        </p:nvSpPr>
        <p:spPr>
          <a:xfrm>
            <a:off x="1443318" y="5334000"/>
            <a:ext cx="624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effectLst>
                  <a:glow rad="127000">
                    <a:srgbClr val="0070C0"/>
                  </a:glow>
                </a:effectLst>
              </a:rPr>
              <a:t>Lecture 15: Monetary Policy, </a:t>
            </a:r>
            <a:br>
              <a:rPr lang="en-US" sz="2800" dirty="0">
                <a:solidFill>
                  <a:srgbClr val="FFFF00"/>
                </a:solidFill>
                <a:effectLst>
                  <a:glow rad="127000">
                    <a:srgbClr val="0070C0"/>
                  </a:glow>
                </a:effectLst>
              </a:rPr>
            </a:br>
            <a:r>
              <a:rPr lang="en-US" sz="2800" dirty="0">
                <a:solidFill>
                  <a:srgbClr val="FFFF00"/>
                </a:solidFill>
                <a:effectLst>
                  <a:glow rad="127000">
                    <a:srgbClr val="0070C0"/>
                  </a:glow>
                </a:effectLst>
              </a:rPr>
              <a:t>Aggregate Demand/Aggregate Supply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Fractional Reserve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61" y="1447800"/>
            <a:ext cx="8001000" cy="4525963"/>
          </a:xfrm>
        </p:spPr>
        <p:txBody>
          <a:bodyPr/>
          <a:lstStyle/>
          <a:p>
            <a:r>
              <a:rPr lang="en-US" sz="1800" dirty="0"/>
              <a:t>Bank: a firm that specializes in brokering between savers and borrowers, allowing borrowers to go to one firm instead of 1000s</a:t>
            </a:r>
          </a:p>
          <a:p>
            <a:endParaRPr lang="en-US" sz="1100" b="1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Banks are only required to keep a fraction of their deposits on hand as reserves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Lends out the 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Creates new money in the form of a deposit in the borrower's account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Deposit effectively increases the overall money supply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Governments regulate banks and provide deposit insurance to protect depositors' funds.</a:t>
            </a:r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D48BD70E-2C18-3D6A-1D12-A09D6C6BC1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755" y="4038599"/>
            <a:ext cx="2784987" cy="278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65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Buying and selling Treasuries changes the money supply </a:t>
            </a:r>
            <a:r>
              <a:rPr lang="en-US" sz="2400" dirty="0">
                <a:sym typeface="Wingdings" pitchFamily="2" charset="2"/>
              </a:rPr>
              <a:t> bond price  </a:t>
            </a:r>
            <a:r>
              <a:rPr lang="en-US" sz="2400" dirty="0"/>
              <a:t>interest rate</a:t>
            </a:r>
          </a:p>
          <a:p>
            <a:endParaRPr lang="en-US" sz="2400" dirty="0"/>
          </a:p>
          <a:p>
            <a:r>
              <a:rPr lang="en-US" sz="2400" dirty="0"/>
              <a:t>Target the Federal Funds Rate: the interest rates banks charge other banks for loans</a:t>
            </a:r>
          </a:p>
          <a:p>
            <a:endParaRPr lang="en-US" sz="2400" dirty="0"/>
          </a:p>
          <a:p>
            <a:pPr lvl="1"/>
            <a:r>
              <a:rPr lang="en-US" sz="2000" dirty="0"/>
              <a:t>determines flexibility in the banking system since banks can loan out more than they borrow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other important interest rates tend to follow the Federal Funds rate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9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/>
              <a:t>Federal Funds Rate vs 30 Year Mort. Rate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9394619A-999D-736C-A884-BDD80E72B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71600"/>
            <a:ext cx="7600950" cy="498475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48086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Federal Funds Rate vs 30 Year Mortgage Rate, 97-16</a:t>
            </a:r>
          </a:p>
        </p:txBody>
      </p:sp>
      <p:pic>
        <p:nvPicPr>
          <p:cNvPr id="5" name="Content Placeholder 4" descr="A graph of a stock market&#10;&#10;AI-generated content may be incorrect.">
            <a:extLst>
              <a:ext uri="{FF2B5EF4-FFF2-40B4-BE49-F238E27FC236}">
                <a16:creationId xmlns:a16="http://schemas.microsoft.com/office/drawing/2014/main" id="{6706588F-632F-CE1F-22EC-57665798C8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192" y="1447800"/>
            <a:ext cx="5729615" cy="4928701"/>
          </a:xfr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58346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F0AA-1AE5-3EEC-03AD-65B013F8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Federal Funds Rate vs Interest Rates</a:t>
            </a:r>
          </a:p>
        </p:txBody>
      </p:sp>
      <p:pic>
        <p:nvPicPr>
          <p:cNvPr id="5" name="Picture 4" descr="A graph with colorful lines and numbers&#10;&#10;AI-generated content may be incorrect.">
            <a:extLst>
              <a:ext uri="{FF2B5EF4-FFF2-40B4-BE49-F238E27FC236}">
                <a16:creationId xmlns:a16="http://schemas.microsoft.com/office/drawing/2014/main" id="{15D04016-495E-D3A0-ADA0-40CE34790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" y="1295400"/>
            <a:ext cx="7677150" cy="519747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43568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Monetary Policy to Interest Rates through the market for money</a:t>
            </a:r>
          </a:p>
          <a:p>
            <a:r>
              <a:rPr lang="en-US" dirty="0"/>
              <a:t>Demand for Money: Why hold on to money (M1 Money)?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A group of robotic hands reaching for coins&#10;&#10;Description automatically generated">
            <a:extLst>
              <a:ext uri="{FF2B5EF4-FFF2-40B4-BE49-F238E27FC236}">
                <a16:creationId xmlns:a16="http://schemas.microsoft.com/office/drawing/2014/main" id="{F2A5B5AA-4D51-0F11-BA72-A426FDF5F1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066257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9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Wealth Box: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42704" y="2511198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50327" y="2511198"/>
            <a:ext cx="0" cy="189411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25635" y="3213463"/>
            <a:ext cx="3997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		  Other Assets	</a:t>
            </a:r>
          </a:p>
        </p:txBody>
      </p:sp>
      <p:pic>
        <p:nvPicPr>
          <p:cNvPr id="11" name="Picture 10" descr="A gold box with coins and a green barrel&#10;&#10;Description automatically generated">
            <a:extLst>
              <a:ext uri="{FF2B5EF4-FFF2-40B4-BE49-F238E27FC236}">
                <a16:creationId xmlns:a16="http://schemas.microsoft.com/office/drawing/2014/main" id="{0FD3454F-26A9-7660-2682-8297CA7E8D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585" y="4439233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07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Benefit of holding wealth in the form of money :</a:t>
            </a:r>
          </a:p>
          <a:p>
            <a:endParaRPr lang="en-US" sz="2400" dirty="0"/>
          </a:p>
          <a:p>
            <a:r>
              <a:rPr lang="en-US" sz="2400" dirty="0"/>
              <a:t>Cost of holding wealth in the form of money:</a:t>
            </a:r>
          </a:p>
          <a:p>
            <a:endParaRPr lang="en-US" sz="2400" dirty="0"/>
          </a:p>
          <a:p>
            <a:r>
              <a:rPr lang="en-US" sz="2400" dirty="0"/>
              <a:t>Price of money vs. Return on illiquid assets?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A house on a stack of coins and a stack of money&#10;&#10;Description automatically generated">
            <a:extLst>
              <a:ext uri="{FF2B5EF4-FFF2-40B4-BE49-F238E27FC236}">
                <a16:creationId xmlns:a16="http://schemas.microsoft.com/office/drawing/2014/main" id="{20CD70DE-0DED-72A3-9C11-2DF7CBE2FE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241" y="4217982"/>
            <a:ext cx="2281518" cy="228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6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Interest Rate = 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Demand for Money: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 descr="A house made of money and coins&#10;&#10;Description automatically generated">
            <a:extLst>
              <a:ext uri="{FF2B5EF4-FFF2-40B4-BE49-F238E27FC236}">
                <a16:creationId xmlns:a16="http://schemas.microsoft.com/office/drawing/2014/main" id="{7E3D8FA7-48C1-1388-8F4A-E20D1D18C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109" y="2246453"/>
            <a:ext cx="3509682" cy="350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31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505111" y="2213046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501660" y="5184476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302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A: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63932" y="2560320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71555" y="2560320"/>
            <a:ext cx="0" cy="189411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3383" y="3055409"/>
            <a:ext cx="3997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       	  Other Assets</a:t>
            </a:r>
          </a:p>
          <a:p>
            <a:r>
              <a:rPr lang="en-US" sz="2000" dirty="0"/>
              <a:t>1 trillion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9140" y="2147978"/>
            <a:ext cx="930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 = 5%</a:t>
            </a:r>
          </a:p>
        </p:txBody>
      </p:sp>
    </p:spTree>
    <p:extLst>
      <p:ext uri="{BB962C8B-B14F-4D97-AF65-F5344CB8AC3E}">
        <p14:creationId xmlns:p14="http://schemas.microsoft.com/office/powerpoint/2010/main" val="302895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25635" y="3213463"/>
            <a:ext cx="3997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	=	                 Other          2.0 trillion	                 Assets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A to </a:t>
            </a:r>
            <a:r>
              <a:rPr lang="en-US" dirty="0">
                <a:solidFill>
                  <a:srgbClr val="FF0000"/>
                </a:solidFill>
              </a:rPr>
              <a:t>Point B</a:t>
            </a:r>
            <a:r>
              <a:rPr lang="en-US" dirty="0"/>
              <a:t>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63932" y="2560320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71555" y="2560320"/>
            <a:ext cx="0" cy="1894115"/>
          </a:xfrm>
          <a:prstGeom prst="line">
            <a:avLst/>
          </a:prstGeom>
          <a:ln>
            <a:solidFill>
              <a:schemeClr val="dk1">
                <a:alpha val="47162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061713" y="2553419"/>
            <a:ext cx="3269412" cy="1906438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TextBox 8"/>
          <p:cNvSpPr txBox="1"/>
          <p:nvPr/>
        </p:nvSpPr>
        <p:spPr>
          <a:xfrm>
            <a:off x="3899140" y="2147978"/>
            <a:ext cx="2098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 = 5%      </a:t>
            </a:r>
            <a:r>
              <a:rPr lang="en-US" sz="2000" dirty="0">
                <a:solidFill>
                  <a:srgbClr val="FF0000"/>
                </a:solidFill>
              </a:rPr>
              <a:t>r = 4%</a:t>
            </a:r>
          </a:p>
        </p:txBody>
      </p:sp>
    </p:spTree>
    <p:extLst>
      <p:ext uri="{BB962C8B-B14F-4D97-AF65-F5344CB8AC3E}">
        <p14:creationId xmlns:p14="http://schemas.microsoft.com/office/powerpoint/2010/main" val="1821196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shifts the demand for money?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736669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708099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44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25635" y="3213463"/>
            <a:ext cx="3997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 =	                      Other Assets</a:t>
            </a:r>
          </a:p>
          <a:p>
            <a:r>
              <a:rPr lang="en-US" sz="2000" dirty="0"/>
              <a:t>1 trillion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A: r = 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63932" y="2560320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71555" y="2560320"/>
            <a:ext cx="0" cy="189411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99140" y="2147978"/>
            <a:ext cx="1069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 = 100</a:t>
            </a:r>
          </a:p>
        </p:txBody>
      </p:sp>
    </p:spTree>
    <p:extLst>
      <p:ext uri="{BB962C8B-B14F-4D97-AF65-F5344CB8AC3E}">
        <p14:creationId xmlns:p14="http://schemas.microsoft.com/office/powerpoint/2010/main" val="341865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A to </a:t>
            </a:r>
            <a:r>
              <a:rPr lang="en-US" dirty="0">
                <a:solidFill>
                  <a:srgbClr val="0070C0"/>
                </a:solidFill>
              </a:rPr>
              <a:t>Point D</a:t>
            </a:r>
            <a:r>
              <a:rPr lang="en-US" dirty="0"/>
              <a:t>: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063932" y="2560320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625635" y="3213463"/>
            <a:ext cx="3997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	=	                  Other          2.5 trillion		Assets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for Money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71555" y="2560320"/>
            <a:ext cx="0" cy="189411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061713" y="2553419"/>
            <a:ext cx="3269412" cy="1906438"/>
          </a:xfrm>
          <a:prstGeom prst="rect">
            <a:avLst/>
          </a:prstGeom>
          <a:noFill/>
          <a:ln w="476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TextBox 8"/>
          <p:cNvSpPr txBox="1"/>
          <p:nvPr/>
        </p:nvSpPr>
        <p:spPr>
          <a:xfrm>
            <a:off x="3899140" y="2147978"/>
            <a:ext cx="2307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 = 100     </a:t>
            </a:r>
            <a:r>
              <a:rPr lang="en-US" sz="2000" dirty="0">
                <a:solidFill>
                  <a:srgbClr val="0070C0"/>
                </a:solidFill>
              </a:rPr>
              <a:t>P = 120</a:t>
            </a:r>
          </a:p>
        </p:txBody>
      </p:sp>
    </p:spTree>
    <p:extLst>
      <p:ext uri="{BB962C8B-B14F-4D97-AF65-F5344CB8AC3E}">
        <p14:creationId xmlns:p14="http://schemas.microsoft.com/office/powerpoint/2010/main" val="12040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shifts the demand for money?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213046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184476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215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for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A: r = 5%, P=100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71555" y="2560320"/>
            <a:ext cx="0" cy="189411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25635" y="3213463"/>
            <a:ext cx="3997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 =	                     Other Assets</a:t>
            </a:r>
          </a:p>
          <a:p>
            <a:r>
              <a:rPr lang="en-US" sz="2000" dirty="0"/>
              <a:t>2 trillion	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9140" y="2147978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 =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063932" y="2560320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6979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A to </a:t>
            </a:r>
            <a:r>
              <a:rPr lang="en-US" dirty="0">
                <a:solidFill>
                  <a:srgbClr val="00B050"/>
                </a:solidFill>
              </a:rPr>
              <a:t>Point F</a:t>
            </a:r>
            <a:r>
              <a:rPr lang="en-US" dirty="0"/>
              <a:t>: r = 5%, P=100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5635" y="3213463"/>
            <a:ext cx="3997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Money =	                 Other Assets</a:t>
            </a:r>
          </a:p>
          <a:p>
            <a:r>
              <a:rPr lang="en-US" sz="2000" dirty="0"/>
              <a:t>0.5 trillion	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1056" y="2579298"/>
            <a:ext cx="3528204" cy="1906438"/>
          </a:xfrm>
          <a:prstGeom prst="rect">
            <a:avLst/>
          </a:pr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for Money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063932" y="2560320"/>
            <a:ext cx="4415246" cy="1894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cxnSp>
        <p:nvCxnSpPr>
          <p:cNvPr id="7" name="Straight Connector 6"/>
          <p:cNvCxnSpPr>
            <a:stCxn id="5" idx="0"/>
            <a:endCxn id="5" idx="2"/>
          </p:cNvCxnSpPr>
          <p:nvPr/>
        </p:nvCxnSpPr>
        <p:spPr>
          <a:xfrm>
            <a:off x="4271555" y="2560320"/>
            <a:ext cx="0" cy="189411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99140" y="2147978"/>
            <a:ext cx="700833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Y = 1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270075" y="2570672"/>
            <a:ext cx="0" cy="18891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242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Supply of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by the Central Bank/Federal Reserve</a:t>
            </a:r>
          </a:p>
          <a:p>
            <a:r>
              <a:rPr lang="en-US" dirty="0"/>
              <a:t>Same supply of money at all interest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609861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581291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18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Money Market Equilibrium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609861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581291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069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Changing the Interest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10600" cy="4724400"/>
          </a:xfrm>
        </p:spPr>
        <p:txBody>
          <a:bodyPr/>
          <a:lstStyle/>
          <a:p>
            <a:r>
              <a:rPr lang="en-US" sz="1800" dirty="0"/>
              <a:t>Federal Reserve buys/sells bonds</a:t>
            </a:r>
          </a:p>
          <a:p>
            <a:pPr lvl="1"/>
            <a:r>
              <a:rPr lang="en-US" sz="1600" dirty="0"/>
              <a:t>Changes the interest rate</a:t>
            </a:r>
          </a:p>
          <a:p>
            <a:endParaRPr lang="en-US" sz="1800" dirty="0"/>
          </a:p>
          <a:p>
            <a:r>
              <a:rPr lang="en-US" sz="1800" dirty="0"/>
              <a:t>1-Year Bond with a value of $100</a:t>
            </a:r>
          </a:p>
          <a:p>
            <a:pPr lvl="1"/>
            <a:r>
              <a:rPr lang="en-US" sz="1600" dirty="0"/>
              <a:t>Buyer purchases bond today, gets $100 in 1 year</a:t>
            </a:r>
          </a:p>
          <a:p>
            <a:pPr lvl="1"/>
            <a:r>
              <a:rPr lang="en-US" sz="1600" dirty="0"/>
              <a:t>Price of bond today is less than $100</a:t>
            </a:r>
          </a:p>
          <a:p>
            <a:endParaRPr lang="en-US" sz="1800" dirty="0"/>
          </a:p>
          <a:p>
            <a:r>
              <a:rPr lang="en-US" sz="1800" dirty="0"/>
              <a:t>Interest Rate = (Return on the bond/Price of bond) x 100</a:t>
            </a:r>
          </a:p>
          <a:p>
            <a:r>
              <a:rPr lang="en-US" sz="1800" dirty="0"/>
              <a:t>Bond Price Change</a:t>
            </a:r>
            <a:r>
              <a:rPr lang="en-US" sz="1800" dirty="0">
                <a:sym typeface="Wingdings" panose="05000000000000000000" pitchFamily="2" charset="2"/>
              </a:rPr>
              <a:t> Return on bond Change r* Change</a:t>
            </a:r>
          </a:p>
          <a:p>
            <a:pPr marL="0" indent="0">
              <a:buNone/>
            </a:pPr>
            <a:endParaRPr lang="en-US" sz="1800" dirty="0">
              <a:sym typeface="Wingdings" panose="05000000000000000000" pitchFamily="2" charset="2"/>
            </a:endParaRPr>
          </a:p>
          <a:p>
            <a:endParaRPr lang="en-US" sz="1800" dirty="0">
              <a:sym typeface="Wingdings" panose="05000000000000000000" pitchFamily="2" charset="2"/>
            </a:endParaRPr>
          </a:p>
        </p:txBody>
      </p:sp>
      <p:pic>
        <p:nvPicPr>
          <p:cNvPr id="5" name="Picture 4" descr="A person in a suit standing in a city street&#10;&#10;Description automatically generated">
            <a:extLst>
              <a:ext uri="{FF2B5EF4-FFF2-40B4-BE49-F238E27FC236}">
                <a16:creationId xmlns:a16="http://schemas.microsoft.com/office/drawing/2014/main" id="{7DCA87F9-A49A-10A9-5668-8795AD24CD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3" b="38889"/>
          <a:stretch/>
        </p:blipFill>
        <p:spPr>
          <a:xfrm>
            <a:off x="1333500" y="4762500"/>
            <a:ext cx="6858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9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Carrying out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does the Fed enact monetary policy?</a:t>
            </a:r>
          </a:p>
          <a:p>
            <a:r>
              <a:rPr lang="en-US" sz="2400" dirty="0"/>
              <a:t>Example: r</a:t>
            </a:r>
            <a:r>
              <a:rPr lang="en-US" sz="2400" baseline="-25000" dirty="0"/>
              <a:t>1</a:t>
            </a:r>
            <a:r>
              <a:rPr lang="en-US" sz="2400" dirty="0"/>
              <a:t> = 5%, Fed wants to decrease r</a:t>
            </a:r>
            <a:r>
              <a:rPr lang="en-US" sz="2400" baseline="-25000" dirty="0"/>
              <a:t>2 </a:t>
            </a:r>
            <a:r>
              <a:rPr lang="en-US" sz="2400" dirty="0"/>
              <a:t>= 4%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868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Carrying out Monetary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533"/>
            <a:ext cx="7886700" cy="4351338"/>
          </a:xfrm>
        </p:spPr>
        <p:txBody>
          <a:bodyPr/>
          <a:lstStyle/>
          <a:p>
            <a:r>
              <a:rPr lang="en-US" sz="2800" dirty="0"/>
              <a:t>How does the Fed enact monetary policy?</a:t>
            </a:r>
          </a:p>
          <a:p>
            <a:r>
              <a:rPr lang="en-US" sz="2800" dirty="0"/>
              <a:t>Example: r</a:t>
            </a:r>
            <a:r>
              <a:rPr lang="en-US" sz="2800" baseline="-25000" dirty="0"/>
              <a:t>1</a:t>
            </a:r>
            <a:r>
              <a:rPr lang="en-US" sz="2800" dirty="0"/>
              <a:t> = 5%, Fed wants to increase r</a:t>
            </a:r>
            <a:r>
              <a:rPr lang="en-US" sz="2800" baseline="-25000" dirty="0"/>
              <a:t>3</a:t>
            </a:r>
            <a:r>
              <a:rPr lang="en-US" sz="2800" dirty="0"/>
              <a:t> = 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505111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501660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112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Why is the interest rate so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What changes when r decreases?</a:t>
            </a:r>
          </a:p>
          <a:p>
            <a:r>
              <a:rPr lang="en-US" sz="2800" dirty="0"/>
              <a:t>1.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2.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3.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Picture 5" descr="A white rooster in a building&#10;&#10;Description automatically generated">
            <a:extLst>
              <a:ext uri="{FF2B5EF4-FFF2-40B4-BE49-F238E27FC236}">
                <a16:creationId xmlns:a16="http://schemas.microsoft.com/office/drawing/2014/main" id="{3A57F60D-5A5D-9D56-DACE-66E567A6EC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59080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67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Monetary Policy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Example 1: Y</a:t>
            </a:r>
            <a:r>
              <a:rPr lang="en-US" sz="2400" baseline="-25000" dirty="0"/>
              <a:t>1</a:t>
            </a:r>
            <a:r>
              <a:rPr lang="en-US" sz="2400" dirty="0"/>
              <a:t> = 8,000, r</a:t>
            </a:r>
            <a:r>
              <a:rPr lang="en-US" sz="2400" baseline="-25000" dirty="0"/>
              <a:t>1</a:t>
            </a:r>
            <a:r>
              <a:rPr lang="en-US" sz="2400" dirty="0"/>
              <a:t> = 6% and M</a:t>
            </a:r>
            <a:r>
              <a:rPr lang="en-US" sz="2400" baseline="-25000" dirty="0"/>
              <a:t>1</a:t>
            </a:r>
            <a:r>
              <a:rPr lang="en-US" sz="2400" dirty="0"/>
              <a:t> = 1 trillion</a:t>
            </a:r>
          </a:p>
          <a:p>
            <a:r>
              <a:rPr lang="en-US" sz="2400" dirty="0"/>
              <a:t>Y = 10,000 (full employment GDP)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179299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175848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5323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1872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914400" y="2286000"/>
            <a:ext cx="15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542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Monetary Policy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330066"/>
              </a:buClr>
            </a:pPr>
            <a:r>
              <a:rPr lang="en-US" sz="2400" dirty="0">
                <a:solidFill>
                  <a:srgbClr val="000000"/>
                </a:solidFill>
              </a:rPr>
              <a:t>Example 1: Y</a:t>
            </a:r>
            <a:r>
              <a:rPr lang="en-US" sz="2400" baseline="-25000" dirty="0">
                <a:solidFill>
                  <a:srgbClr val="000000"/>
                </a:solidFill>
              </a:rPr>
              <a:t>3</a:t>
            </a:r>
            <a:r>
              <a:rPr lang="en-US" sz="2400" dirty="0">
                <a:solidFill>
                  <a:srgbClr val="000000"/>
                </a:solidFill>
              </a:rPr>
              <a:t> = 12,000, r</a:t>
            </a:r>
            <a:r>
              <a:rPr lang="en-US" sz="2400" baseline="-25000" dirty="0">
                <a:solidFill>
                  <a:srgbClr val="000000"/>
                </a:solidFill>
              </a:rPr>
              <a:t>3 </a:t>
            </a:r>
            <a:r>
              <a:rPr lang="en-US" sz="2400" dirty="0">
                <a:solidFill>
                  <a:srgbClr val="000000"/>
                </a:solidFill>
              </a:rPr>
              <a:t>= 2% and M</a:t>
            </a:r>
            <a:r>
              <a:rPr lang="en-US" sz="2400" baseline="-25000" dirty="0">
                <a:solidFill>
                  <a:srgbClr val="000000"/>
                </a:solidFill>
              </a:rPr>
              <a:t>3</a:t>
            </a:r>
            <a:r>
              <a:rPr lang="en-US" sz="2400" dirty="0">
                <a:solidFill>
                  <a:srgbClr val="000000"/>
                </a:solidFill>
              </a:rPr>
              <a:t> = 4 trillion</a:t>
            </a:r>
          </a:p>
          <a:p>
            <a:pPr lvl="0">
              <a:buClr>
                <a:srgbClr val="330066"/>
              </a:buClr>
            </a:pPr>
            <a:r>
              <a:rPr lang="en-US" sz="2400" dirty="0">
                <a:solidFill>
                  <a:srgbClr val="000000"/>
                </a:solidFill>
              </a:rPr>
              <a:t>Y = 10,000 (full employment GDP)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179299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175848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5323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1872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914400" y="2286000"/>
            <a:ext cx="15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463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Effects of 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Y = 10,000 (full employment GDP), </a:t>
            </a:r>
            <a:r>
              <a:rPr lang="en-US" sz="2800" dirty="0"/>
              <a:t>r</a:t>
            </a:r>
            <a:r>
              <a:rPr lang="en-US" sz="2800" baseline="-25000" dirty="0"/>
              <a:t>1</a:t>
            </a:r>
            <a:r>
              <a:rPr lang="en-US" dirty="0"/>
              <a:t> = 5%, </a:t>
            </a:r>
            <a:br>
              <a:rPr lang="en-US" dirty="0"/>
            </a:br>
            <a:r>
              <a:rPr lang="en-US" sz="2000" dirty="0"/>
              <a:t>M</a:t>
            </a:r>
            <a:r>
              <a:rPr lang="en-US" sz="2000" baseline="-25000" dirty="0"/>
              <a:t>1</a:t>
            </a:r>
            <a:r>
              <a:rPr lang="en-US" dirty="0"/>
              <a:t> = 1 trillion, CPI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/>
              <a:t>= 100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179299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175848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745323" y="2879252"/>
            <a:ext cx="0" cy="2978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41872" y="5850682"/>
            <a:ext cx="3588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981200" y="1905000"/>
            <a:ext cx="155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32082"/>
      </p:ext>
    </p:extLst>
  </p:cSld>
  <p:clrMapOvr>
    <a:masterClrMapping/>
  </p:clrMapOvr>
</p:sld>
</file>

<file path=ppt/theme/theme1.xml><?xml version="1.0" encoding="utf-8"?>
<a:theme xmlns:a="http://schemas.openxmlformats.org/drawingml/2006/main" name="UCSBMacr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SBMacro" id="{F4B4EBA3-93E4-6147-9188-7272F8AC44DB}" vid="{CEC284AD-430E-A54E-AB77-F4A5EA244D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8774</TotalTime>
  <Words>705</Words>
  <Application>Microsoft Macintosh PowerPoint</Application>
  <PresentationFormat>On-screen Show (4:3)</PresentationFormat>
  <Paragraphs>145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Wingdings</vt:lpstr>
      <vt:lpstr>UCSBMacro</vt:lpstr>
      <vt:lpstr>PowerPoint Presentation</vt:lpstr>
      <vt:lpstr>Fractional Reserve Banking</vt:lpstr>
      <vt:lpstr>Monetary Policy</vt:lpstr>
      <vt:lpstr>Federal Funds Rate vs 30 Year Mort. Rate</vt:lpstr>
      <vt:lpstr>Federal Funds Rate vs 30 Year Mortgage Rate, 97-16</vt:lpstr>
      <vt:lpstr>Federal Funds Rate vs Interest Rates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Demand for Money</vt:lpstr>
      <vt:lpstr>Supply of Money</vt:lpstr>
      <vt:lpstr>Money Market Equilibrium</vt:lpstr>
      <vt:lpstr>Changing the Interest Rate</vt:lpstr>
      <vt:lpstr>Carrying out Monetary Policy</vt:lpstr>
      <vt:lpstr>Carrying out Monetary Policy</vt:lpstr>
      <vt:lpstr>Why is the interest rate so important?</vt:lpstr>
      <vt:lpstr>Monetary Policy in Action</vt:lpstr>
      <vt:lpstr>Monetary Policy in Action</vt:lpstr>
      <vt:lpstr>Effects of Inflation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 2: Introduction to Macroeconomics</dc:title>
  <dc:creator>Matt</dc:creator>
  <cp:lastModifiedBy>Matthew Lang</cp:lastModifiedBy>
  <cp:revision>108</cp:revision>
  <dcterms:created xsi:type="dcterms:W3CDTF">2017-01-03T23:29:58Z</dcterms:created>
  <dcterms:modified xsi:type="dcterms:W3CDTF">2026-05-20T15:05:56Z</dcterms:modified>
</cp:coreProperties>
</file>