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5"/>
  </p:notesMasterIdLst>
  <p:sldIdLst>
    <p:sldId id="483" r:id="rId2"/>
    <p:sldId id="566" r:id="rId3"/>
    <p:sldId id="569" r:id="rId4"/>
    <p:sldId id="570" r:id="rId5"/>
    <p:sldId id="593" r:id="rId6"/>
    <p:sldId id="583" r:id="rId7"/>
    <p:sldId id="592" r:id="rId8"/>
    <p:sldId id="585" r:id="rId9"/>
    <p:sldId id="587" r:id="rId10"/>
    <p:sldId id="588" r:id="rId11"/>
    <p:sldId id="589" r:id="rId12"/>
    <p:sldId id="623" r:id="rId13"/>
    <p:sldId id="625" r:id="rId14"/>
    <p:sldId id="626" r:id="rId15"/>
    <p:sldId id="627" r:id="rId16"/>
    <p:sldId id="628" r:id="rId17"/>
    <p:sldId id="629" r:id="rId18"/>
    <p:sldId id="632" r:id="rId19"/>
    <p:sldId id="633" r:id="rId20"/>
    <p:sldId id="634" r:id="rId21"/>
    <p:sldId id="635" r:id="rId22"/>
    <p:sldId id="636" r:id="rId23"/>
    <p:sldId id="630" r:id="rId24"/>
    <p:sldId id="631" r:id="rId25"/>
    <p:sldId id="637" r:id="rId26"/>
    <p:sldId id="652" r:id="rId27"/>
    <p:sldId id="658" r:id="rId28"/>
    <p:sldId id="638" r:id="rId29"/>
    <p:sldId id="639" r:id="rId30"/>
    <p:sldId id="640" r:id="rId31"/>
    <p:sldId id="641" r:id="rId32"/>
    <p:sldId id="643" r:id="rId33"/>
    <p:sldId id="644" r:id="rId3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C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726"/>
  </p:normalViewPr>
  <p:slideViewPr>
    <p:cSldViewPr>
      <p:cViewPr varScale="1">
        <p:scale>
          <a:sx n="120" d="100"/>
          <a:sy n="120" d="100"/>
        </p:scale>
        <p:origin x="1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189DB-D2D4-4757-B07C-3C6A30EBBB3C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5B1FA-4B5C-4D10-B6DA-0D032591A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3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5B1FA-4B5C-4D10-B6DA-0D032591AB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5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B1FA-4B5C-4D10-B6DA-0D032591AB8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03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5B1FA-4B5C-4D10-B6DA-0D032591AB8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27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B3040-1989-5A04-D01D-E7D38161F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9F1A0-0170-35DE-AA51-E00D44949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B55BE-8A28-52C2-46E8-689640E9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F93FBF-171A-4B98-997C-FF70A455B85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1957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34AB2-48AF-97DE-A28F-6F6F2119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F88CD-D40E-B41E-98F6-9D19C3FD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60BF6-65D9-4EAF-A89E-B719E683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CE0D06-5597-45C4-9B0A-1E1EEAD302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1379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FF02E-102D-737D-37EF-A191A346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5F866-0326-282D-FCB6-F3F533EB3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BE43E-B069-0EF9-A165-205D167B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D39462-BE44-4C6E-B2E1-B85B28DF47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684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819BCA3-DC28-303D-6F72-B4ED86A7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521F701-C517-EAB2-B9B7-5B1C2384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4C632E-6617-647A-602A-6E498A1E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58CAB9-A740-4DC6-9EA9-387AF4B90D7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8706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27B29B1-6928-886F-23BD-136276597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4BF5E8A-480C-A8B0-AF76-7E6A11F1A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42BD88-C050-EBAF-BDF8-F6AB8E2F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36B70-150C-49DD-8581-084AFB122F0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0614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919248A-0834-A1F9-89A0-D2DD67477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7D46AA7-B2C7-398A-D4A9-FA6CB1327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A34842D-5209-7807-271E-8F8372556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04C4CD-67AF-47E9-A3BF-1D95C5CF024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156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32B97F8-A2CF-5E99-F844-3DEC4115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5699331-8DCD-A64C-76DF-9178B197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77E4EE-EB31-0A63-297E-54273D26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1E5E28-145B-48A8-B09C-BE0EF6FC9F2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256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EF195E2-6E99-1391-E991-7827BEDB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7A7ED35-9D96-FB80-1807-74C2C3E60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3B5450-512D-8E4C-9797-E5652F750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F6ED46-894D-4B03-B3C6-95950A70FC8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248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75A75E3-2F51-A375-E17C-6739ACDD3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ABAAA23-DCB3-C01A-E5F5-331D64430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C02D1A-0FF8-36D6-A13D-22864BF9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F03974-D94D-40F5-99B9-21D403FC132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3050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392A-A33D-46E6-7156-2D13744E7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69B73-0DC7-9EA0-144F-18338EB4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9BE3-27A2-6F6C-1017-BA40CE14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B23AD4-4F15-4E76-9AC7-1E3768BD0E5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722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55232-F962-91B7-FE2A-27F423DF0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74F9C-9383-CFCD-C25B-BDF815007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E3B66-9E69-57DC-A31E-7C31C488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0AB973-DC7D-488D-9389-0822689EA8C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53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D316CF7A-9C3E-EC78-D665-EAB17BE49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FA1F9EFA-3F9E-E487-4DE0-B5467864E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0E298-0E1E-6956-561B-C2155A2E5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AD89D-703D-7703-2A40-A238E777C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748D6-2171-F631-68F0-05EA782FD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C53BE90A-212E-461A-904C-ACDD425AB48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46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5pPr>
      <a:lvl6pPr marL="342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6pPr>
      <a:lvl7pPr marL="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7pPr>
      <a:lvl8pPr marL="10287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8pPr>
      <a:lvl9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9pPr>
    </p:titleStyle>
    <p:bodyStyle>
      <a:lvl1pPr marL="171450" indent="-171450" algn="l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finance.yahoo.com/news/glossary-federal-reserves-emergency-measures-coronavirus-bazookas-120337473.htm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8EEEE68-8B86-ED3A-2458-E80B9D49B7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9" r="12675"/>
          <a:stretch/>
        </p:blipFill>
        <p:spPr bwMode="auto">
          <a:xfrm>
            <a:off x="0" y="0"/>
            <a:ext cx="913951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56F7A28-6A00-B5BC-AE08-44D4CDE7621A}"/>
              </a:ext>
            </a:extLst>
          </p:cNvPr>
          <p:cNvSpPr txBox="1">
            <a:spLocks/>
          </p:cNvSpPr>
          <p:nvPr/>
        </p:nvSpPr>
        <p:spPr bwMode="auto">
          <a:xfrm>
            <a:off x="-4482" y="712833"/>
            <a:ext cx="9144000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  <a:lvl6pPr marL="342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6pPr>
            <a:lvl7pPr marL="685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7pPr>
            <a:lvl8pPr marL="10287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8pPr>
            <a:lvl9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9pPr>
          </a:lstStyle>
          <a:p>
            <a:r>
              <a:rPr lang="en-US" dirty="0">
                <a:solidFill>
                  <a:srgbClr val="FFFF00"/>
                </a:solidFill>
                <a:effectLst>
                  <a:glow rad="139700">
                    <a:schemeClr val="tx2">
                      <a:lumMod val="75000"/>
                      <a:lumOff val="25000"/>
                      <a:alpha val="40000"/>
                    </a:schemeClr>
                  </a:glow>
                </a:effectLst>
              </a:rPr>
              <a:t>Econ 2</a:t>
            </a:r>
            <a:br>
              <a:rPr lang="en-US" dirty="0">
                <a:solidFill>
                  <a:srgbClr val="FFFF00"/>
                </a:solidFill>
                <a:effectLst>
                  <a:glow rad="139700">
                    <a:schemeClr val="tx2">
                      <a:lumMod val="75000"/>
                      <a:lumOff val="25000"/>
                      <a:alpha val="40000"/>
                    </a:schemeClr>
                  </a:glow>
                </a:effectLst>
              </a:rPr>
            </a:br>
            <a:r>
              <a:rPr lang="en-US" dirty="0">
                <a:solidFill>
                  <a:srgbClr val="FFFF00"/>
                </a:solidFill>
                <a:effectLst>
                  <a:glow rad="139700">
                    <a:schemeClr val="tx2">
                      <a:lumMod val="75000"/>
                      <a:lumOff val="25000"/>
                      <a:alpha val="40000"/>
                    </a:schemeClr>
                  </a:glow>
                </a:effectLst>
              </a:rPr>
              <a:t>Principles of Macroeconomics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1839E-AC3B-0A67-42B6-A1AEC1A2319E}"/>
              </a:ext>
            </a:extLst>
          </p:cNvPr>
          <p:cNvSpPr txBox="1"/>
          <p:nvPr/>
        </p:nvSpPr>
        <p:spPr>
          <a:xfrm>
            <a:off x="1443318" y="3869476"/>
            <a:ext cx="6248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FF00"/>
                </a:solidFill>
                <a:effectLst>
                  <a:glow rad="127000">
                    <a:srgbClr val="0070C0"/>
                  </a:glow>
                </a:effectLst>
              </a:rPr>
              <a:t>Lecture 16:</a:t>
            </a:r>
            <a:br>
              <a:rPr lang="en-US" sz="2800" dirty="0">
                <a:solidFill>
                  <a:srgbClr val="FFFF00"/>
                </a:solidFill>
                <a:effectLst>
                  <a:glow rad="127000">
                    <a:srgbClr val="0070C0"/>
                  </a:glow>
                </a:effectLst>
              </a:rPr>
            </a:br>
            <a:r>
              <a:rPr lang="en-US" sz="2800" dirty="0">
                <a:solidFill>
                  <a:srgbClr val="FFFF00"/>
                </a:solidFill>
                <a:effectLst>
                  <a:glow rad="127000">
                    <a:srgbClr val="0070C0"/>
                  </a:glow>
                </a:effectLst>
              </a:rPr>
              <a:t>Aggregate Demand/Aggregate Supply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Demand for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shifts the demand for money?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505111" y="2213046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501660" y="5184476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215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Supply of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by the Central Bank/Federal Reserve</a:t>
            </a:r>
          </a:p>
          <a:p>
            <a:r>
              <a:rPr lang="en-US" dirty="0"/>
              <a:t>Same supply of money at all interest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505111" y="2609861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501660" y="5581291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18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Money Market Equilibrium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505111" y="2609861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501660" y="5581291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069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Changing the Interest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10600" cy="4724400"/>
          </a:xfrm>
        </p:spPr>
        <p:txBody>
          <a:bodyPr/>
          <a:lstStyle/>
          <a:p>
            <a:r>
              <a:rPr lang="en-US" sz="1800" dirty="0"/>
              <a:t>Federal Reserve buys/sells bonds</a:t>
            </a:r>
          </a:p>
          <a:p>
            <a:pPr lvl="1"/>
            <a:r>
              <a:rPr lang="en-US" sz="1600" dirty="0"/>
              <a:t>Changes the interest rate</a:t>
            </a:r>
          </a:p>
          <a:p>
            <a:endParaRPr lang="en-US" sz="1800" dirty="0"/>
          </a:p>
          <a:p>
            <a:r>
              <a:rPr lang="en-US" sz="1800" dirty="0"/>
              <a:t>1-Year Bond with a value of $100</a:t>
            </a:r>
          </a:p>
          <a:p>
            <a:pPr lvl="1"/>
            <a:r>
              <a:rPr lang="en-US" sz="1600" dirty="0"/>
              <a:t>Buyer purchases bond today, gets $100 in 1 year</a:t>
            </a:r>
          </a:p>
          <a:p>
            <a:pPr lvl="1"/>
            <a:r>
              <a:rPr lang="en-US" sz="1600" dirty="0"/>
              <a:t>Price of bond today is less than $100</a:t>
            </a:r>
          </a:p>
          <a:p>
            <a:endParaRPr lang="en-US" sz="1800" dirty="0"/>
          </a:p>
          <a:p>
            <a:r>
              <a:rPr lang="en-US" sz="1800" dirty="0"/>
              <a:t>Interest Rate = (Return on the bond/Price of bond) x 100</a:t>
            </a:r>
          </a:p>
          <a:p>
            <a:r>
              <a:rPr lang="en-US" sz="1800" dirty="0"/>
              <a:t>Bond Price Change</a:t>
            </a:r>
            <a:r>
              <a:rPr lang="en-US" sz="1800" dirty="0">
                <a:sym typeface="Wingdings" panose="05000000000000000000" pitchFamily="2" charset="2"/>
              </a:rPr>
              <a:t> Return on bond Change r* Change</a:t>
            </a:r>
          </a:p>
          <a:p>
            <a:pPr marL="0" indent="0">
              <a:buNone/>
            </a:pPr>
            <a:endParaRPr lang="en-US" sz="1800" dirty="0">
              <a:sym typeface="Wingdings" panose="05000000000000000000" pitchFamily="2" charset="2"/>
            </a:endParaRPr>
          </a:p>
          <a:p>
            <a:endParaRPr lang="en-US" sz="1800" dirty="0">
              <a:sym typeface="Wingdings" panose="05000000000000000000" pitchFamily="2" charset="2"/>
            </a:endParaRPr>
          </a:p>
        </p:txBody>
      </p:sp>
      <p:pic>
        <p:nvPicPr>
          <p:cNvPr id="5" name="Picture 4" descr="A person in a suit standing in a city street&#10;&#10;Description automatically generated">
            <a:extLst>
              <a:ext uri="{FF2B5EF4-FFF2-40B4-BE49-F238E27FC236}">
                <a16:creationId xmlns:a16="http://schemas.microsoft.com/office/drawing/2014/main" id="{7DCA87F9-A49A-10A9-5668-8795AD24CD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33" b="38889"/>
          <a:stretch/>
        </p:blipFill>
        <p:spPr>
          <a:xfrm>
            <a:off x="1333500" y="4762500"/>
            <a:ext cx="6858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Carrying out Monetary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How does the Fed enact monetary policy?</a:t>
            </a:r>
          </a:p>
          <a:p>
            <a:r>
              <a:rPr lang="en-US" sz="2400" dirty="0"/>
              <a:t>Example: r</a:t>
            </a:r>
            <a:r>
              <a:rPr lang="en-US" sz="2400" baseline="-25000" dirty="0"/>
              <a:t>1</a:t>
            </a:r>
            <a:r>
              <a:rPr lang="en-US" sz="2400" dirty="0"/>
              <a:t> = 5%, Fed wants to decrease r</a:t>
            </a:r>
            <a:r>
              <a:rPr lang="en-US" sz="2400" baseline="-25000" dirty="0"/>
              <a:t>2 </a:t>
            </a:r>
            <a:r>
              <a:rPr lang="en-US" sz="2400" dirty="0"/>
              <a:t>= 4%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505111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501660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868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Carrying out Monetary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4533"/>
            <a:ext cx="7886700" cy="4351338"/>
          </a:xfrm>
        </p:spPr>
        <p:txBody>
          <a:bodyPr/>
          <a:lstStyle/>
          <a:p>
            <a:r>
              <a:rPr lang="en-US" sz="2800" dirty="0"/>
              <a:t>How does the Fed enact monetary policy?</a:t>
            </a:r>
          </a:p>
          <a:p>
            <a:r>
              <a:rPr lang="en-US" sz="2800" dirty="0"/>
              <a:t>Example: r</a:t>
            </a:r>
            <a:r>
              <a:rPr lang="en-US" sz="2800" baseline="-25000" dirty="0"/>
              <a:t>1</a:t>
            </a:r>
            <a:r>
              <a:rPr lang="en-US" sz="2800" dirty="0"/>
              <a:t> = 5%, Fed wants to increase r</a:t>
            </a:r>
            <a:r>
              <a:rPr lang="en-US" sz="2800" baseline="-25000" dirty="0"/>
              <a:t>3</a:t>
            </a:r>
            <a:r>
              <a:rPr lang="en-US" sz="2800" dirty="0"/>
              <a:t> = 6%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505111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501660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112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/>
              <a:t>Why is the interest rate so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What changes when r decreases?</a:t>
            </a:r>
          </a:p>
          <a:p>
            <a:r>
              <a:rPr lang="en-US" sz="2800" dirty="0"/>
              <a:t>1.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2.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3.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 descr="A white rooster in a building&#10;&#10;Description automatically generated">
            <a:extLst>
              <a:ext uri="{FF2B5EF4-FFF2-40B4-BE49-F238E27FC236}">
                <a16:creationId xmlns:a16="http://schemas.microsoft.com/office/drawing/2014/main" id="{3A57F60D-5A5D-9D56-DACE-66E567A6EC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590800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67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Monetary Policy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Example 1: Y</a:t>
            </a:r>
            <a:r>
              <a:rPr lang="en-US" sz="2400" baseline="-25000" dirty="0"/>
              <a:t>1</a:t>
            </a:r>
            <a:r>
              <a:rPr lang="en-US" sz="2400" dirty="0"/>
              <a:t> = 8,000, r</a:t>
            </a:r>
            <a:r>
              <a:rPr lang="en-US" sz="2400" baseline="-25000" dirty="0"/>
              <a:t>1</a:t>
            </a:r>
            <a:r>
              <a:rPr lang="en-US" sz="2400" dirty="0"/>
              <a:t> = 6% and M</a:t>
            </a:r>
            <a:r>
              <a:rPr lang="en-US" sz="2400" baseline="-25000" dirty="0"/>
              <a:t>1</a:t>
            </a:r>
            <a:r>
              <a:rPr lang="en-US" sz="2400" dirty="0"/>
              <a:t> = 1 trillion</a:t>
            </a:r>
          </a:p>
          <a:p>
            <a:r>
              <a:rPr lang="en-US" sz="2400" dirty="0"/>
              <a:t>Y = 10,000 (full employment GDP)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5179299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175848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745323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741872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914400" y="2286000"/>
            <a:ext cx="155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542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Monetary Policy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330066"/>
              </a:buClr>
            </a:pPr>
            <a:r>
              <a:rPr lang="en-US" sz="2400" dirty="0">
                <a:solidFill>
                  <a:srgbClr val="000000"/>
                </a:solidFill>
              </a:rPr>
              <a:t>Example 1: Y</a:t>
            </a:r>
            <a:r>
              <a:rPr lang="en-US" sz="2400" baseline="-25000" dirty="0">
                <a:solidFill>
                  <a:srgbClr val="000000"/>
                </a:solidFill>
              </a:rPr>
              <a:t>3</a:t>
            </a:r>
            <a:r>
              <a:rPr lang="en-US" sz="2400" dirty="0">
                <a:solidFill>
                  <a:srgbClr val="000000"/>
                </a:solidFill>
              </a:rPr>
              <a:t> = 12,000, r</a:t>
            </a:r>
            <a:r>
              <a:rPr lang="en-US" sz="2400" baseline="-25000" dirty="0">
                <a:solidFill>
                  <a:srgbClr val="000000"/>
                </a:solidFill>
              </a:rPr>
              <a:t>3 </a:t>
            </a:r>
            <a:r>
              <a:rPr lang="en-US" sz="2400" dirty="0">
                <a:solidFill>
                  <a:srgbClr val="000000"/>
                </a:solidFill>
              </a:rPr>
              <a:t>= 2% and M</a:t>
            </a:r>
            <a:r>
              <a:rPr lang="en-US" sz="2400" baseline="-25000" dirty="0">
                <a:solidFill>
                  <a:srgbClr val="000000"/>
                </a:solidFill>
              </a:rPr>
              <a:t>3</a:t>
            </a:r>
            <a:r>
              <a:rPr lang="en-US" sz="2400" dirty="0">
                <a:solidFill>
                  <a:srgbClr val="000000"/>
                </a:solidFill>
              </a:rPr>
              <a:t> = 4 trillion</a:t>
            </a:r>
          </a:p>
          <a:p>
            <a:pPr lvl="0">
              <a:buClr>
                <a:srgbClr val="330066"/>
              </a:buClr>
            </a:pPr>
            <a:r>
              <a:rPr lang="en-US" sz="2400" dirty="0">
                <a:solidFill>
                  <a:srgbClr val="000000"/>
                </a:solidFill>
              </a:rPr>
              <a:t>Y = 10,000 (full employment GDP)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5179299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175848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745323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741872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914400" y="2286000"/>
            <a:ext cx="155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463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Effects of Inflation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Y = 10,000 (full employment GDP), </a:t>
            </a:r>
            <a:r>
              <a:rPr lang="en-US" sz="2800" dirty="0"/>
              <a:t>r</a:t>
            </a:r>
            <a:r>
              <a:rPr lang="en-US" sz="2800" baseline="-25000" dirty="0"/>
              <a:t>1</a:t>
            </a:r>
            <a:r>
              <a:rPr lang="en-US" dirty="0"/>
              <a:t> = 5%, </a:t>
            </a:r>
            <a:br>
              <a:rPr lang="en-US" dirty="0"/>
            </a:br>
            <a:r>
              <a:rPr lang="en-US" sz="2000" dirty="0"/>
              <a:t>M</a:t>
            </a:r>
            <a:r>
              <a:rPr lang="en-US" sz="2000" baseline="-25000" dirty="0"/>
              <a:t>1</a:t>
            </a:r>
            <a:r>
              <a:rPr lang="en-US" dirty="0"/>
              <a:t> = 1 trillion, CPI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/>
              <a:t>= 100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5179299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175848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745323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741872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981200" y="1905000"/>
            <a:ext cx="155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832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Aggregate Demand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88437"/>
            <a:ext cx="7886700" cy="4351338"/>
          </a:xfrm>
        </p:spPr>
        <p:txBody>
          <a:bodyPr/>
          <a:lstStyle/>
          <a:p>
            <a:r>
              <a:rPr lang="en-US" sz="1600" dirty="0"/>
              <a:t>How are prices and levels of Y=AE related?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Aggregate Demand Curve: “Equilibrium Level of Spending at Every Price Level” Curve</a:t>
            </a:r>
            <a:br>
              <a:rPr lang="en-US" sz="1600" dirty="0"/>
            </a:br>
            <a:r>
              <a:rPr lang="en-US" sz="1600" dirty="0"/>
              <a:t>As general level of prices rise, equilibrium level of spending (Y*=AE*) decreases</a:t>
            </a:r>
          </a:p>
          <a:p>
            <a:r>
              <a:rPr lang="en-US" sz="1600" dirty="0"/>
              <a:t>Moving along the aggregate demand curve?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867421" y="2286370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863970" y="5257800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764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Aggregate Demand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Shifts in the AD Curve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867421" y="245253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863970" y="542396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975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Aggregate Supply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6765"/>
            <a:ext cx="7886700" cy="4351338"/>
          </a:xfrm>
        </p:spPr>
        <p:txBody>
          <a:bodyPr/>
          <a:lstStyle/>
          <a:p>
            <a:r>
              <a:rPr lang="en-US" sz="1800" dirty="0"/>
              <a:t>Aggregate Supply: The amount that firms are willing and able to produce at various price levels</a:t>
            </a:r>
          </a:p>
          <a:p>
            <a:r>
              <a:rPr lang="en-US" sz="1800" dirty="0"/>
              <a:t>In the short-run:</a:t>
            </a:r>
            <a:br>
              <a:rPr lang="en-US" sz="1800" dirty="0"/>
            </a:br>
            <a:r>
              <a:rPr lang="en-US" sz="1800" dirty="0"/>
              <a:t>	-firms respond to the costs of production</a:t>
            </a:r>
            <a:br>
              <a:rPr lang="en-US" sz="1800" dirty="0"/>
            </a:br>
            <a:r>
              <a:rPr lang="en-US" sz="1800" dirty="0"/>
              <a:t>	-production costs are determined by level of Y in short-run</a:t>
            </a:r>
            <a:br>
              <a:rPr lang="en-US" sz="1800" dirty="0"/>
            </a:br>
            <a:r>
              <a:rPr lang="en-US" sz="1800" dirty="0"/>
              <a:t>	-as Y increases, new (less productive) workers are hired</a:t>
            </a:r>
            <a:br>
              <a:rPr lang="en-US" sz="1800" dirty="0"/>
            </a:br>
            <a:r>
              <a:rPr lang="en-US" sz="1800" dirty="0"/>
              <a:t>	-additional Y costs more than previous Y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806461" y="3692434"/>
            <a:ext cx="0" cy="2591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803010" y="627740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326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Aggregate Supply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Movement Along vs. Shifts in Supply</a:t>
            </a:r>
          </a:p>
          <a:p>
            <a:r>
              <a:rPr lang="en-US" sz="2400" dirty="0"/>
              <a:t>What shifts AS? </a:t>
            </a:r>
          </a:p>
          <a:p>
            <a:r>
              <a:rPr lang="en-US" sz="2400" dirty="0"/>
              <a:t>Anything that changes the amount firms are willing to produce that is not the price</a:t>
            </a:r>
          </a:p>
          <a:p>
            <a:r>
              <a:rPr lang="en-US" sz="2400" dirty="0"/>
              <a:t>Examples: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77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Complete Macroeconomic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967322" y="22696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963871" y="52410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532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Entire </a:t>
            </a:r>
            <a:r>
              <a:rPr lang="en-US" dirty="0" err="1"/>
              <a:t>Macroeconomy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Money Supply = 1 trillion</a:t>
            </a:r>
            <a:br>
              <a:rPr lang="en-US" sz="2400" dirty="0"/>
            </a:br>
            <a:r>
              <a:rPr lang="en-US" sz="2400" dirty="0"/>
              <a:t>Interest Rate = 5%</a:t>
            </a:r>
            <a:br>
              <a:rPr lang="en-US" sz="2400" dirty="0"/>
            </a:br>
            <a:r>
              <a:rPr lang="en-US" sz="2400" dirty="0"/>
              <a:t>Price Level = 100</a:t>
            </a:r>
            <a:br>
              <a:rPr lang="en-US" sz="2400" dirty="0"/>
            </a:br>
            <a:r>
              <a:rPr lang="en-US" sz="2400" dirty="0"/>
              <a:t>Y=Y-bar = 10,000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190773" y="1802675"/>
            <a:ext cx="0" cy="2095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187322" y="3884023"/>
            <a:ext cx="2766369" cy="7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4887562" y="1763486"/>
            <a:ext cx="0" cy="2095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884111" y="3844834"/>
            <a:ext cx="2766369" cy="7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4883207" y="4023360"/>
            <a:ext cx="0" cy="2095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4879756" y="6104708"/>
            <a:ext cx="2766369" cy="7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054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Shocks to the </a:t>
            </a:r>
            <a:r>
              <a:rPr lang="en-US" dirty="0" err="1"/>
              <a:t>Macroeconomy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Connect model to real-world data</a:t>
            </a:r>
          </a:p>
          <a:p>
            <a:r>
              <a:rPr lang="en-US" sz="2400" dirty="0"/>
              <a:t>During the Great Recession, is there evidence that:</a:t>
            </a:r>
          </a:p>
          <a:p>
            <a:pPr lvl="1"/>
            <a:r>
              <a:rPr lang="en-US" sz="2000" dirty="0"/>
              <a:t>housing prices fell</a:t>
            </a:r>
          </a:p>
          <a:p>
            <a:pPr lvl="1"/>
            <a:r>
              <a:rPr lang="en-US" sz="2000" dirty="0"/>
              <a:t>output and CPI decreased</a:t>
            </a:r>
          </a:p>
          <a:p>
            <a:pPr lvl="1"/>
            <a:r>
              <a:rPr lang="en-US" sz="2000" dirty="0"/>
              <a:t>government spending increased</a:t>
            </a:r>
          </a:p>
          <a:p>
            <a:pPr lvl="1"/>
            <a:r>
              <a:rPr lang="en-US" sz="2000" dirty="0"/>
              <a:t>tax revenue decreased</a:t>
            </a:r>
          </a:p>
          <a:p>
            <a:pPr lvl="1"/>
            <a:r>
              <a:rPr lang="en-US" sz="2000" dirty="0"/>
              <a:t>interest rates decreased (money supply increased)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30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Housing Prices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Content Placeholder 6" descr="A graph showing the growth of a home price index&#10;&#10;AI-generated content may be incorrect.">
            <a:extLst>
              <a:ext uri="{FF2B5EF4-FFF2-40B4-BE49-F238E27FC236}">
                <a16:creationId xmlns:a16="http://schemas.microsoft.com/office/drawing/2014/main" id="{95EEB61B-5F66-706A-2E1C-3D011DC00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48046"/>
            <a:ext cx="7886700" cy="3906496"/>
          </a:xfrm>
        </p:spPr>
      </p:pic>
    </p:spTree>
    <p:extLst>
      <p:ext uri="{BB962C8B-B14F-4D97-AF65-F5344CB8AC3E}">
        <p14:creationId xmlns:p14="http://schemas.microsoft.com/office/powerpoint/2010/main" val="3659998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GDP/CPI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" name="Content Placeholder 6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D8CA0F00-D0A3-8D7F-8FAB-CB99D167A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48046"/>
            <a:ext cx="7886700" cy="3906496"/>
          </a:xfrm>
        </p:spPr>
      </p:pic>
    </p:spTree>
    <p:extLst>
      <p:ext uri="{BB962C8B-B14F-4D97-AF65-F5344CB8AC3E}">
        <p14:creationId xmlns:p14="http://schemas.microsoft.com/office/powerpoint/2010/main" val="2153049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Taxes and Government Expenditures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7" name="Content Placeholder 6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EBFC1C86-504A-50CF-1032-CF28D19AC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48046"/>
            <a:ext cx="7886700" cy="3906496"/>
          </a:xfrm>
        </p:spPr>
      </p:pic>
    </p:spTree>
    <p:extLst>
      <p:ext uri="{BB962C8B-B14F-4D97-AF65-F5344CB8AC3E}">
        <p14:creationId xmlns:p14="http://schemas.microsoft.com/office/powerpoint/2010/main" val="4189756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Interest Rate and Money Supply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" name="Content Placeholder 6" descr="A graph showing the growth of money&#10;&#10;AI-generated content may be incorrect.">
            <a:extLst>
              <a:ext uri="{FF2B5EF4-FFF2-40B4-BE49-F238E27FC236}">
                <a16:creationId xmlns:a16="http://schemas.microsoft.com/office/drawing/2014/main" id="{FE90F0E8-D5F1-11D3-D527-C9B72D0F1D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11192"/>
            <a:ext cx="7886700" cy="3980203"/>
          </a:xfrm>
        </p:spPr>
      </p:pic>
    </p:spTree>
    <p:extLst>
      <p:ext uri="{BB962C8B-B14F-4D97-AF65-F5344CB8AC3E}">
        <p14:creationId xmlns:p14="http://schemas.microsoft.com/office/powerpoint/2010/main" val="1708880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Shocks to the </a:t>
            </a:r>
            <a:r>
              <a:rPr lang="en-US" dirty="0" err="1"/>
              <a:t>Macroeconomy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Start at Full-Employment output</a:t>
            </a:r>
          </a:p>
          <a:p>
            <a:r>
              <a:rPr lang="en-US" sz="2400" dirty="0"/>
              <a:t>Housing Market Crash-how does P* and Y* change?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23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967322" y="2922795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963871" y="5894225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579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Shocks to the </a:t>
            </a:r>
            <a:r>
              <a:rPr lang="en-US" dirty="0" err="1"/>
              <a:t>Macroeconomy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788" y="1385725"/>
            <a:ext cx="7886700" cy="4351338"/>
          </a:xfrm>
        </p:spPr>
        <p:txBody>
          <a:bodyPr/>
          <a:lstStyle/>
          <a:p>
            <a:r>
              <a:rPr lang="en-US" sz="2400" dirty="0"/>
              <a:t>Start at Full-Employment output</a:t>
            </a:r>
          </a:p>
          <a:p>
            <a:r>
              <a:rPr lang="en-US" sz="2400" dirty="0"/>
              <a:t>Housing Market Crash-how does P* and Y* change?</a:t>
            </a:r>
          </a:p>
          <a:p>
            <a:r>
              <a:rPr lang="en-US" sz="2400" dirty="0"/>
              <a:t>How should the government or Fed respond?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24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967322" y="2922795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963871" y="5894225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373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/>
              <a:t>Demand Shocks to the </a:t>
            </a:r>
            <a:r>
              <a:rPr lang="en-US" sz="2800" dirty="0" err="1"/>
              <a:t>Macroeconomy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Demand Shock: </a:t>
            </a:r>
          </a:p>
          <a:p>
            <a:endParaRPr lang="en-US" dirty="0"/>
          </a:p>
          <a:p>
            <a:r>
              <a:rPr lang="en-US" dirty="0"/>
              <a:t>Counter-Cyclical Policy: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699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2A3-83F1-4323-A0E4-972D93441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/>
              <a:t>The Federal Reserve During COVID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83E47-8861-44F5-8054-3E5C681E0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5867"/>
            <a:ext cx="7696200" cy="5105400"/>
          </a:xfrm>
        </p:spPr>
        <p:txBody>
          <a:bodyPr/>
          <a:lstStyle/>
          <a:p>
            <a:r>
              <a:rPr lang="en-US" sz="2000" dirty="0"/>
              <a:t>Emergency Rate Cut I on March 3</a:t>
            </a:r>
            <a:r>
              <a:rPr lang="en-US" sz="2000" baseline="30000" dirty="0"/>
              <a:t>rd</a:t>
            </a:r>
            <a:r>
              <a:rPr lang="en-US" sz="2000" dirty="0"/>
              <a:t>, 2020</a:t>
            </a:r>
          </a:p>
          <a:p>
            <a:pPr lvl="1"/>
            <a:r>
              <a:rPr lang="en-US" sz="2000" dirty="0"/>
              <a:t>Fed Funds Rate: 1.0 to 1.25%</a:t>
            </a:r>
          </a:p>
          <a:p>
            <a:endParaRPr lang="en-US" sz="2800" dirty="0"/>
          </a:p>
          <a:p>
            <a:r>
              <a:rPr lang="en-US" sz="2000" dirty="0"/>
              <a:t>Emergency Rate Cut II on March 15</a:t>
            </a:r>
            <a:r>
              <a:rPr lang="en-US" sz="2000" baseline="30000" dirty="0"/>
              <a:t>th</a:t>
            </a:r>
            <a:r>
              <a:rPr lang="en-US" sz="2000" dirty="0"/>
              <a:t>, 2020</a:t>
            </a:r>
          </a:p>
          <a:p>
            <a:pPr lvl="1"/>
            <a:r>
              <a:rPr lang="en-US" sz="2000" dirty="0"/>
              <a:t>Fed Funds Rate: 0 to 0.25%</a:t>
            </a:r>
          </a:p>
          <a:p>
            <a:endParaRPr lang="en-US" sz="1800" dirty="0"/>
          </a:p>
          <a:p>
            <a:r>
              <a:rPr lang="en-US" sz="2000" dirty="0">
                <a:hlinkClick r:id="rId2"/>
              </a:rPr>
              <a:t>Only unconventional tools remain</a:t>
            </a:r>
            <a:endParaRPr lang="en-US" sz="2000" dirty="0"/>
          </a:p>
          <a:p>
            <a:pPr lvl="1"/>
            <a:r>
              <a:rPr lang="en-US" sz="1800" dirty="0"/>
              <a:t>Buying mortgage-backed securities</a:t>
            </a:r>
          </a:p>
          <a:p>
            <a:pPr lvl="1"/>
            <a:r>
              <a:rPr lang="en-US" sz="1800" dirty="0"/>
              <a:t>Lower reserve requirements for banks </a:t>
            </a:r>
          </a:p>
          <a:p>
            <a:endParaRPr lang="en-US" sz="2000" dirty="0"/>
          </a:p>
          <a:p>
            <a:r>
              <a:rPr lang="en-US" sz="2000" dirty="0"/>
              <a:t>All meant to increase AC, I</a:t>
            </a:r>
            <a:r>
              <a:rPr lang="en-US" sz="2000" baseline="30000" dirty="0"/>
              <a:t>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35431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664D4-821C-4072-A6E6-4E5582AE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Federal Funds Rate, 2014-2022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FFC93F-5267-48B3-BDFF-55BCA1E07EE8}"/>
              </a:ext>
            </a:extLst>
          </p:cNvPr>
          <p:cNvCxnSpPr>
            <a:cxnSpLocks/>
          </p:cNvCxnSpPr>
          <p:nvPr/>
        </p:nvCxnSpPr>
        <p:spPr>
          <a:xfrm>
            <a:off x="7353300" y="2514600"/>
            <a:ext cx="723900" cy="914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F97114-A228-4CC4-943A-80F98D451573}"/>
              </a:ext>
            </a:extLst>
          </p:cNvPr>
          <p:cNvSpPr txBox="1"/>
          <p:nvPr/>
        </p:nvSpPr>
        <p:spPr>
          <a:xfrm>
            <a:off x="6553200" y="2140131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Pandemic</a:t>
            </a:r>
          </a:p>
        </p:txBody>
      </p:sp>
      <p:pic>
        <p:nvPicPr>
          <p:cNvPr id="14" name="Content Placeholder 13" descr="A graph showing the growth of a federal funds rate&#10;&#10;AI-generated content may be incorrect.">
            <a:extLst>
              <a:ext uri="{FF2B5EF4-FFF2-40B4-BE49-F238E27FC236}">
                <a16:creationId xmlns:a16="http://schemas.microsoft.com/office/drawing/2014/main" id="{0165409F-D104-2385-22E4-3170936C4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11192"/>
            <a:ext cx="7886700" cy="3980203"/>
          </a:xfrm>
        </p:spPr>
      </p:pic>
    </p:spTree>
    <p:extLst>
      <p:ext uri="{BB962C8B-B14F-4D97-AF65-F5344CB8AC3E}">
        <p14:creationId xmlns:p14="http://schemas.microsoft.com/office/powerpoint/2010/main" val="1233513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Supply Shocks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Supply Shock: Change in AS that moves economy away from full-employment equilibrium</a:t>
            </a:r>
          </a:p>
          <a:p>
            <a:r>
              <a:rPr lang="en-US" sz="2000" dirty="0"/>
              <a:t>How do we know if a recession is caused by a supply shock instead of demand shock?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28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967322" y="2922795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963871" y="5894225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500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Supply Shock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How should the government respond to a recession driven by a decrease in AS?</a:t>
            </a:r>
          </a:p>
          <a:p>
            <a:r>
              <a:rPr lang="en-US" sz="2800" dirty="0"/>
              <a:t>Option 1: Fight unemployment, bring economy back to Y-bar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12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Supply Shock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How should the government respond to a recession driven by a decrease in AS?</a:t>
            </a:r>
          </a:p>
          <a:p>
            <a:r>
              <a:rPr lang="en-US" sz="2800" dirty="0"/>
              <a:t>Option 2: Fight rising prices, bring prices back to P*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62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Historical Supply Shocks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OPEC Oil Embargo in the early 1970s</a:t>
            </a:r>
          </a:p>
          <a:p>
            <a:r>
              <a:rPr lang="en-US" dirty="0"/>
              <a:t>Microeconomic Consequences: Gasoline shortage</a:t>
            </a:r>
          </a:p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" name="Picture 6" descr="Bird's eye view of an average gas station in Portland during the early morning hours of pumping when gas was limited on a first-come, first served basis to five gallons per car.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899" y="2746148"/>
            <a:ext cx="5441830" cy="3618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5918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Historical Supply Shocks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Did prices rise as output fell?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7" name="Picture 6" descr="A graph showing the growth of the gdp and gdp&#10;&#10;AI-generated content may be incorrect.">
            <a:extLst>
              <a:ext uri="{FF2B5EF4-FFF2-40B4-BE49-F238E27FC236}">
                <a16:creationId xmlns:a16="http://schemas.microsoft.com/office/drawing/2014/main" id="{EC5E1D7E-869B-26B2-8E1E-D27A71C45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433832"/>
            <a:ext cx="7772400" cy="392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896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Historical Supply Shocks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did the Federal Reserve respond?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7" name="Picture 6" descr="A graph showing the growth of the federal funds rate&#10;&#10;AI-generated content may be incorrect.">
            <a:extLst>
              <a:ext uri="{FF2B5EF4-FFF2-40B4-BE49-F238E27FC236}">
                <a16:creationId xmlns:a16="http://schemas.microsoft.com/office/drawing/2014/main" id="{80584B85-DB2B-157A-589F-CAA423EA7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344138"/>
            <a:ext cx="7772400" cy="392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74966"/>
      </p:ext>
    </p:extLst>
  </p:cSld>
  <p:clrMapOvr>
    <a:masterClrMapping/>
  </p:clrMapOvr>
</p:sld>
</file>

<file path=ppt/theme/theme1.xml><?xml version="1.0" encoding="utf-8"?>
<a:theme xmlns:a="http://schemas.openxmlformats.org/drawingml/2006/main" name="UCSBMacr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CSBMacro" id="{F4B4EBA3-93E4-6147-9188-7272F8AC44DB}" vid="{CEC284AD-430E-A54E-AB77-F4A5EA244D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10318</TotalTime>
  <Words>802</Words>
  <Application>Microsoft Macintosh PowerPoint</Application>
  <PresentationFormat>On-screen Show (4:3)</PresentationFormat>
  <Paragraphs>158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Wingdings</vt:lpstr>
      <vt:lpstr>UCSBMacro</vt:lpstr>
      <vt:lpstr>PowerPoint Presentation</vt:lpstr>
      <vt:lpstr>Demand for Money</vt:lpstr>
      <vt:lpstr>Supply of Money</vt:lpstr>
      <vt:lpstr>Money Market Equilibrium</vt:lpstr>
      <vt:lpstr>Changing the Interest Rate</vt:lpstr>
      <vt:lpstr>Carrying out Monetary Policy</vt:lpstr>
      <vt:lpstr>Carrying out Monetary Policy</vt:lpstr>
      <vt:lpstr>Why is the interest rate so important?</vt:lpstr>
      <vt:lpstr>Monetary Policy in Action</vt:lpstr>
      <vt:lpstr>Monetary Policy in Action</vt:lpstr>
      <vt:lpstr>Effects of Inflation</vt:lpstr>
      <vt:lpstr>Aggregate Demand Curve</vt:lpstr>
      <vt:lpstr>Aggregate Demand Curve</vt:lpstr>
      <vt:lpstr>Aggregate Supply Curve</vt:lpstr>
      <vt:lpstr>Aggregate Supply Curve</vt:lpstr>
      <vt:lpstr>Complete Macroeconomic Equilibrium</vt:lpstr>
      <vt:lpstr>Entire Macroeconomy</vt:lpstr>
      <vt:lpstr>Shocks to the Macroeconomy</vt:lpstr>
      <vt:lpstr>Housing Prices</vt:lpstr>
      <vt:lpstr>GDP/CPI</vt:lpstr>
      <vt:lpstr>Taxes and Government Expenditures</vt:lpstr>
      <vt:lpstr>Interest Rate and Money Supply</vt:lpstr>
      <vt:lpstr>Shocks to the Macroeconomy</vt:lpstr>
      <vt:lpstr>Shocks to the Macroeconomy</vt:lpstr>
      <vt:lpstr>Demand Shocks to the Macroeconomy</vt:lpstr>
      <vt:lpstr>The Federal Reserve During COVID</vt:lpstr>
      <vt:lpstr>Federal Funds Rate, 2014-2022</vt:lpstr>
      <vt:lpstr>Supply Shocks</vt:lpstr>
      <vt:lpstr>Supply Shock</vt:lpstr>
      <vt:lpstr>Supply Shock</vt:lpstr>
      <vt:lpstr>Historical Supply Shocks</vt:lpstr>
      <vt:lpstr>Historical Supply Shocks</vt:lpstr>
      <vt:lpstr>Historical Supply Shocks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 2: Introduction to Macroeconomics</dc:title>
  <dc:creator>Matt</dc:creator>
  <cp:lastModifiedBy>Matthew Lang</cp:lastModifiedBy>
  <cp:revision>113</cp:revision>
  <dcterms:created xsi:type="dcterms:W3CDTF">2017-01-03T23:29:58Z</dcterms:created>
  <dcterms:modified xsi:type="dcterms:W3CDTF">2026-05-27T13:59:19Z</dcterms:modified>
</cp:coreProperties>
</file>