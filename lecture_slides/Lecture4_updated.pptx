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5"/>
  </p:notesMasterIdLst>
  <p:sldIdLst>
    <p:sldId id="256" r:id="rId2"/>
    <p:sldId id="424" r:id="rId3"/>
    <p:sldId id="451" r:id="rId4"/>
    <p:sldId id="452" r:id="rId5"/>
    <p:sldId id="427" r:id="rId6"/>
    <p:sldId id="453" r:id="rId7"/>
    <p:sldId id="454" r:id="rId8"/>
    <p:sldId id="455" r:id="rId9"/>
    <p:sldId id="456" r:id="rId10"/>
    <p:sldId id="461" r:id="rId11"/>
    <p:sldId id="462" r:id="rId12"/>
    <p:sldId id="459" r:id="rId13"/>
    <p:sldId id="324" r:id="rId14"/>
    <p:sldId id="380" r:id="rId15"/>
    <p:sldId id="460" r:id="rId16"/>
    <p:sldId id="382" r:id="rId17"/>
    <p:sldId id="383" r:id="rId18"/>
    <p:sldId id="384" r:id="rId19"/>
    <p:sldId id="386" r:id="rId20"/>
    <p:sldId id="387" r:id="rId21"/>
    <p:sldId id="440" r:id="rId22"/>
    <p:sldId id="441" r:id="rId23"/>
    <p:sldId id="442" r:id="rId24"/>
    <p:sldId id="426" r:id="rId25"/>
    <p:sldId id="443" r:id="rId26"/>
    <p:sldId id="444" r:id="rId27"/>
    <p:sldId id="446" r:id="rId28"/>
    <p:sldId id="447" r:id="rId29"/>
    <p:sldId id="448" r:id="rId30"/>
    <p:sldId id="449" r:id="rId31"/>
    <p:sldId id="450" r:id="rId32"/>
    <p:sldId id="436" r:id="rId33"/>
    <p:sldId id="437" r:id="rId34"/>
  </p:sldIdLst>
  <p:sldSz cx="12192000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100"/>
    <p:restoredTop sz="94694"/>
  </p:normalViewPr>
  <p:slideViewPr>
    <p:cSldViewPr snapToGrid="0">
      <p:cViewPr varScale="1">
        <p:scale>
          <a:sx n="82" d="100"/>
          <a:sy n="82" d="100"/>
        </p:scale>
        <p:origin x="168" y="10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A4DD2C-8F37-B241-9330-DBB155A41C9A}" type="datetimeFigureOut">
              <a:rPr lang="en-US" smtClean="0"/>
              <a:t>4/7/26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0D6A09-275E-EC45-933F-F0AA6AFD47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99227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6FC720-3D87-8A4D-9D54-0B3F67450DF0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21986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1B3040-1989-5A04-D01D-E7D38161F9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5ACCA72-3465-DA40-9B34-7F6EFFEC7E13}" type="datetimeFigureOut">
              <a:rPr lang="en-US" smtClean="0"/>
              <a:t>4/7/26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19F1A0-0170-35DE-AA51-E00D44949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8B55BE-8A28-52C2-46E8-689640E900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2E2DB9E-A907-3B4D-B74A-08FDF81948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37827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A34AB2-48AF-97DE-A28F-6F6F211998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5ACCA72-3465-DA40-9B34-7F6EFFEC7E13}" type="datetimeFigureOut">
              <a:rPr lang="en-US" smtClean="0"/>
              <a:t>4/7/26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8F88CD-D40E-B41E-98F6-9D19C3FD8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F60BF6-65D9-4EAF-A89E-B719E68381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2E2DB9E-A907-3B4D-B74A-08FDF81948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37193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6FF02E-102D-737D-37EF-A191A34632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5ACCA72-3465-DA40-9B34-7F6EFFEC7E13}" type="datetimeFigureOut">
              <a:rPr lang="en-US" smtClean="0"/>
              <a:t>4/7/26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D5F866-0326-282D-FCB6-F3F533EB36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EBE43E-B069-0EF9-A165-205D167B4D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2E2DB9E-A907-3B4D-B74A-08FDF81948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05850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B819BCA3-DC28-303D-6F72-B4ED86A75E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5ACCA72-3465-DA40-9B34-7F6EFFEC7E13}" type="datetimeFigureOut">
              <a:rPr lang="en-US" smtClean="0"/>
              <a:t>4/7/26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D521F701-C517-EAB2-B9B7-5B1C23844F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C44C632E-6617-647A-602A-6E498A1EA0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2E2DB9E-A907-3B4D-B74A-08FDF81948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31766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627B29B1-6928-886F-23BD-1362765974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5ACCA72-3465-DA40-9B34-7F6EFFEC7E13}" type="datetimeFigureOut">
              <a:rPr lang="en-US" smtClean="0"/>
              <a:t>4/7/26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A4BF5E8A-480C-A8B0-AF76-7E6A11F1A2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4E42BD88-C050-EBAF-BDF8-F6AB8E2F6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2E2DB9E-A907-3B4D-B74A-08FDF81948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24161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C919248A-0834-A1F9-89A0-D2DD674775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5ACCA72-3465-DA40-9B34-7F6EFFEC7E13}" type="datetimeFigureOut">
              <a:rPr lang="en-US" smtClean="0"/>
              <a:t>4/7/26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7D46AA7-B2C7-398A-D4A9-FA6CB1327A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A34842D-5209-7807-271E-8F83725565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2E2DB9E-A907-3B4D-B74A-08FDF81948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93036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532B97F8-A2CF-5E99-F844-3DEC411504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5ACCA72-3465-DA40-9B34-7F6EFFEC7E13}" type="datetimeFigureOut">
              <a:rPr lang="en-US" smtClean="0"/>
              <a:t>4/7/26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F5699331-8DCD-A64C-76DF-9178B197FB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6677E4EE-EB31-0A63-297E-54273D260E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2E2DB9E-A907-3B4D-B74A-08FDF81948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32531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4EF195E2-6E99-1391-E991-7827BEDBF4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5ACCA72-3465-DA40-9B34-7F6EFFEC7E13}" type="datetimeFigureOut">
              <a:rPr lang="en-US" smtClean="0"/>
              <a:t>4/7/26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B7A7ED35-9D96-FB80-1807-74C2C3E60A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863B5450-512D-8E4C-9797-E5652F7504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2E2DB9E-A907-3B4D-B74A-08FDF81948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88235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775A75E3-2F51-A375-E17C-6739ACDD37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5ACCA72-3465-DA40-9B34-7F6EFFEC7E13}" type="datetimeFigureOut">
              <a:rPr lang="en-US" smtClean="0"/>
              <a:t>4/7/26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6ABAAA23-DCB3-C01A-E5F5-331D64430E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FC02D1A-0FF8-36D6-A13D-22864BF9C8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2E2DB9E-A907-3B4D-B74A-08FDF81948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57669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41392A-A33D-46E6-7156-2D13744E7D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5ACCA72-3465-DA40-9B34-7F6EFFEC7E13}" type="datetimeFigureOut">
              <a:rPr lang="en-US" smtClean="0"/>
              <a:t>4/7/26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E69B73-0DC7-9EA0-144F-18338EB43E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D09BE3-27A2-6F6C-1017-BA40CE148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2E2DB9E-A907-3B4D-B74A-08FDF81948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85994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755232-F962-91B7-FE2A-27F423DF09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5ACCA72-3465-DA40-9B34-7F6EFFEC7E13}" type="datetimeFigureOut">
              <a:rPr lang="en-US" smtClean="0"/>
              <a:t>4/7/26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074F9C-9383-CFCD-C25B-BDF8150072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CE3B66-9E69-57DC-A31E-7C31C488D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2E2DB9E-A907-3B4D-B74A-08FDF81948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72220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Placeholder 1">
            <a:extLst>
              <a:ext uri="{FF2B5EF4-FFF2-40B4-BE49-F238E27FC236}">
                <a16:creationId xmlns:a16="http://schemas.microsoft.com/office/drawing/2014/main" id="{D316CF7A-9C3E-EC78-D665-EAB17BE49CA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3075" name="Text Placeholder 2">
            <a:extLst>
              <a:ext uri="{FF2B5EF4-FFF2-40B4-BE49-F238E27FC236}">
                <a16:creationId xmlns:a16="http://schemas.microsoft.com/office/drawing/2014/main" id="{FA1F9EFA-3F9E-E487-4DE0-B5467864E42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30E298-0E1E-6956-561B-C2155A2E5F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82000"/>
                  </a:schemeClr>
                </a:solidFill>
                <a:latin typeface="+mn-lt"/>
              </a:defRPr>
            </a:lvl1pPr>
          </a:lstStyle>
          <a:p>
            <a:fld id="{15ACCA72-3465-DA40-9B34-7F6EFFEC7E13}" type="datetimeFigureOut">
              <a:rPr lang="en-US" smtClean="0"/>
              <a:t>4/7/26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AAD89D-703D-7703-2A40-A238E777C9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82000"/>
                  </a:schemeClr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748D6-2171-F631-68F0-05EA782FD5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82000"/>
                  </a:schemeClr>
                </a:solidFill>
                <a:latin typeface="+mn-lt"/>
              </a:defRPr>
            </a:lvl1pPr>
          </a:lstStyle>
          <a:p>
            <a:fld id="{A2E2DB9E-A907-3B4D-B74A-08FDF81948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42213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ptos Display" panose="020B0004020202020204" pitchFamily="34" charset="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ptos Display" panose="020B0004020202020204" pitchFamily="34" charset="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ptos Display" panose="020B0004020202020204" pitchFamily="34" charset="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ptos Display" panose="020B0004020202020204" pitchFamily="34" charset="0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ptos Display" panose="020B0004020202020204" pitchFamily="34" charset="0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ptos Display" panose="020B0004020202020204" pitchFamily="34" charset="0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ptos Display" panose="020B0004020202020204" pitchFamily="34" charset="0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ptos Display" panose="020B0004020202020204" pitchFamily="34" charset="0"/>
        </a:defRPr>
      </a:lvl9pPr>
    </p:titleStyle>
    <p:bodyStyle>
      <a:lvl1pPr marL="228600" indent="-228600" algn="l" rtl="0" eaLnBrk="1" fontAlgn="base" hangingPunct="1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://www.bea.gov/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911F2E1D-97FE-53E8-4384-91A45790983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1419727"/>
            <a:ext cx="5181600" cy="2009274"/>
          </a:xfrm>
        </p:spPr>
        <p:txBody>
          <a:bodyPr wrap="square" anchor="ctr">
            <a:normAutofit/>
          </a:bodyPr>
          <a:lstStyle/>
          <a:p>
            <a:pPr algn="ctr"/>
            <a:r>
              <a:rPr lang="en-US" altLang="en-US" dirty="0"/>
              <a:t>ECON 002:</a:t>
            </a:r>
            <a:br>
              <a:rPr lang="en-US" altLang="en-US" dirty="0"/>
            </a:br>
            <a:r>
              <a:rPr lang="en-US" altLang="en-US" dirty="0"/>
              <a:t>Principles of Macroeconomics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8B3007-4CEE-EB12-EE13-29A166FEC2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3681663"/>
            <a:ext cx="5181600" cy="2495300"/>
          </a:xfrm>
        </p:spPr>
        <p:txBody>
          <a:bodyPr wrap="square" anchor="t">
            <a:normAutofit/>
          </a:bodyPr>
          <a:lstStyle/>
          <a:p>
            <a:pPr algn="ctr"/>
            <a:r>
              <a:rPr lang="en-US" dirty="0"/>
              <a:t>Lecture 4: GDP and Stable Prices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F81DCB2-9A2A-40D9-28A9-6002E8310D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6172200" y="524656"/>
            <a:ext cx="5181600" cy="5652307"/>
          </a:xfrm>
          <a:prstGeom prst="rect">
            <a:avLst/>
          </a:prstGeom>
          <a:solidFill>
            <a:srgbClr val="FFFFFF"/>
          </a:solidFill>
        </p:spPr>
      </p:pic>
    </p:spTree>
    <p:extLst>
      <p:ext uri="{BB962C8B-B14F-4D97-AF65-F5344CB8AC3E}">
        <p14:creationId xmlns:p14="http://schemas.microsoft.com/office/powerpoint/2010/main" val="40900049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0100" y="3932148"/>
            <a:ext cx="10477500" cy="2468652"/>
          </a:xfrm>
        </p:spPr>
        <p:txBody>
          <a:bodyPr/>
          <a:lstStyle/>
          <a:p>
            <a:r>
              <a:rPr lang="en-US" dirty="0"/>
              <a:t>“Within a Country’s Borders”</a:t>
            </a:r>
            <a:endParaRPr lang="en-US" sz="2000" dirty="0"/>
          </a:p>
          <a:p>
            <a:r>
              <a:rPr lang="en-US" sz="2000" dirty="0"/>
              <a:t>GDP: Production within the geographical border of a country.</a:t>
            </a:r>
          </a:p>
          <a:p>
            <a:r>
              <a:rPr lang="en-US" sz="2000" dirty="0"/>
              <a:t>Can also be a City, State, Continent or Planet!</a:t>
            </a:r>
          </a:p>
          <a:p>
            <a:endParaRPr lang="en-US" sz="2000" dirty="0"/>
          </a:p>
          <a:p>
            <a:r>
              <a:rPr lang="en-US" sz="2000" dirty="0"/>
              <a:t>Gross National Product (GNP): Production by citizens of a country, no matter where they are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D468DBD-0EDE-1E44-9A2A-DCF1B6E367FD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08"/>
          <a:stretch/>
        </p:blipFill>
        <p:spPr>
          <a:xfrm>
            <a:off x="2049463" y="1543050"/>
            <a:ext cx="7331075" cy="2236698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0AC18493-442B-075B-CD60-CC329C2566F7}"/>
              </a:ext>
            </a:extLst>
          </p:cNvPr>
          <p:cNvSpPr txBox="1">
            <a:spLocks/>
          </p:cNvSpPr>
          <p:nvPr/>
        </p:nvSpPr>
        <p:spPr bwMode="auto">
          <a:xfrm>
            <a:off x="571500" y="198437"/>
            <a:ext cx="107061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ptos Display" panose="020B0004020202020204" pitchFamily="34" charset="0"/>
              </a:defRPr>
            </a:lvl2pPr>
            <a:lvl3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ptos Display" panose="020B0004020202020204" pitchFamily="34" charset="0"/>
              </a:defRPr>
            </a:lvl3pPr>
            <a:lvl4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ptos Display" panose="020B0004020202020204" pitchFamily="34" charset="0"/>
              </a:defRPr>
            </a:lvl4pPr>
            <a:lvl5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ptos Display" panose="020B0004020202020204" pitchFamily="34" charset="0"/>
              </a:defRPr>
            </a:lvl5pPr>
            <a:lvl6pPr marL="4572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ptos Display" panose="020B0004020202020204" pitchFamily="34" charset="0"/>
              </a:defRPr>
            </a:lvl6pPr>
            <a:lvl7pPr marL="9144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ptos Display" panose="020B0004020202020204" pitchFamily="34" charset="0"/>
              </a:defRPr>
            </a:lvl7pPr>
            <a:lvl8pPr marL="13716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ptos Display" panose="020B0004020202020204" pitchFamily="34" charset="0"/>
              </a:defRPr>
            </a:lvl8pPr>
            <a:lvl9pPr marL="18288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ptos Display" panose="020B0004020202020204" pitchFamily="34" charset="0"/>
              </a:defRPr>
            </a:lvl9pPr>
          </a:lstStyle>
          <a:p>
            <a:pPr algn="ctr"/>
            <a:r>
              <a:rPr lang="en-US" sz="2800" dirty="0">
                <a:solidFill>
                  <a:srgbClr val="484240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GDP: the market value of all final goods and services produced for a marketplace during a period of time, </a:t>
            </a:r>
            <a:r>
              <a:rPr lang="en-US" sz="2800" b="1" dirty="0">
                <a:solidFill>
                  <a:srgbClr val="484240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within a country’s borders</a:t>
            </a:r>
            <a:endParaRPr lang="en-US" sz="2800" b="1" dirty="0">
              <a:latin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94977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72833" y="314844"/>
            <a:ext cx="3923167" cy="1295400"/>
          </a:xfrm>
        </p:spPr>
        <p:txBody>
          <a:bodyPr/>
          <a:lstStyle/>
          <a:p>
            <a:r>
              <a:rPr lang="en-US" dirty="0"/>
              <a:t>Measuring GDP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791237"/>
            <a:ext cx="8229600" cy="4495800"/>
          </a:xfrm>
        </p:spPr>
        <p:txBody>
          <a:bodyPr/>
          <a:lstStyle/>
          <a:p>
            <a:r>
              <a:rPr lang="en-US" sz="1800" dirty="0"/>
              <a:t>Most common way to measure GDP is the </a:t>
            </a:r>
            <a:r>
              <a:rPr lang="en-US" sz="1800" b="1" dirty="0"/>
              <a:t>Expenditure Approach</a:t>
            </a:r>
          </a:p>
          <a:p>
            <a:r>
              <a:rPr lang="en-US" sz="1800" dirty="0"/>
              <a:t>Bureau of Economic Analysis (</a:t>
            </a:r>
            <a:r>
              <a:rPr lang="en-US" sz="1800" dirty="0">
                <a:hlinkClick r:id="rId2"/>
              </a:rPr>
              <a:t>www.bea.gov</a:t>
            </a:r>
            <a:r>
              <a:rPr lang="en-US" sz="1800" dirty="0"/>
              <a:t>) </a:t>
            </a:r>
            <a:br>
              <a:rPr lang="en-US" sz="1800" dirty="0"/>
            </a:br>
            <a:r>
              <a:rPr lang="en-US" sz="1800" dirty="0"/>
              <a:t>	National Income and Product Accounts (NIPA) table</a:t>
            </a:r>
          </a:p>
          <a:p>
            <a:endParaRPr lang="en-US" sz="1800" dirty="0"/>
          </a:p>
          <a:p>
            <a:r>
              <a:rPr lang="en-US" sz="1800" dirty="0"/>
              <a:t>Four General Categories</a:t>
            </a:r>
          </a:p>
          <a:p>
            <a:pPr>
              <a:buAutoNum type="arabicPeriod"/>
            </a:pPr>
            <a:r>
              <a:rPr lang="en-US" sz="1800" dirty="0"/>
              <a:t>Consumptions of goods and services (C): purchases by the households</a:t>
            </a:r>
          </a:p>
          <a:p>
            <a:pPr>
              <a:buAutoNum type="arabicPeriod"/>
            </a:pPr>
            <a:r>
              <a:rPr lang="en-US" sz="1800" dirty="0"/>
              <a:t>Private investment of goods and services (I): purchases by firms/businesses</a:t>
            </a:r>
          </a:p>
          <a:p>
            <a:pPr>
              <a:buAutoNum type="arabicPeriod"/>
            </a:pPr>
            <a:r>
              <a:rPr lang="en-US" sz="1800" dirty="0"/>
              <a:t>Government goods and services (G): purchase by governments</a:t>
            </a:r>
          </a:p>
          <a:p>
            <a:pPr>
              <a:buAutoNum type="arabicPeriod"/>
            </a:pPr>
            <a:r>
              <a:rPr lang="en-US" sz="1800" dirty="0"/>
              <a:t>Net Exports (NX) = Exports (X) – Imports (M): net purchases by foreigners</a:t>
            </a:r>
          </a:p>
          <a:p>
            <a:pPr lvl="1">
              <a:buAutoNum type="arabicPeriod"/>
            </a:pPr>
            <a:r>
              <a:rPr lang="en-US" sz="1400" dirty="0"/>
              <a:t>Exports (X): Goods sold by home country, money </a:t>
            </a:r>
            <a:r>
              <a:rPr lang="en-US" sz="1400" b="1" dirty="0"/>
              <a:t>comes from </a:t>
            </a:r>
            <a:r>
              <a:rPr lang="en-US" sz="1400" dirty="0"/>
              <a:t>abroad</a:t>
            </a:r>
          </a:p>
          <a:p>
            <a:pPr lvl="1">
              <a:buAutoNum type="arabicPeriod"/>
            </a:pPr>
            <a:r>
              <a:rPr lang="en-US" sz="1400" dirty="0"/>
              <a:t>Imports (M): Goods bought by home country, money </a:t>
            </a:r>
            <a:r>
              <a:rPr lang="en-US" sz="1400" b="1" dirty="0"/>
              <a:t>goes</a:t>
            </a:r>
            <a:r>
              <a:rPr lang="en-US" sz="1400" dirty="0"/>
              <a:t> abroad</a:t>
            </a:r>
            <a:endParaRPr lang="en-US" sz="1100" dirty="0"/>
          </a:p>
          <a:p>
            <a:endParaRPr lang="en-US" sz="1800" dirty="0"/>
          </a:p>
          <a:p>
            <a:r>
              <a:rPr lang="en-US" sz="1800" dirty="0"/>
              <a:t>GDP defined as </a:t>
            </a:r>
            <a:r>
              <a:rPr lang="en-US" sz="1800" b="1" dirty="0"/>
              <a:t>Y = C + I + G + NX</a:t>
            </a:r>
          </a:p>
          <a:p>
            <a:pPr marL="0" indent="0">
              <a:buNone/>
            </a:pPr>
            <a:endParaRPr lang="en-US" sz="1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30DBF32-BBC1-A4AF-2DE9-1CAEAAF8AD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380892"/>
            <a:ext cx="4476958" cy="1163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69121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Y = </a:t>
            </a:r>
            <a:r>
              <a:rPr lang="en-US" b="1" dirty="0"/>
              <a:t>C </a:t>
            </a:r>
            <a:r>
              <a:rPr lang="en-US" dirty="0"/>
              <a:t>+ I + G + NX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690688"/>
            <a:ext cx="4343400" cy="4557712"/>
          </a:xfrm>
        </p:spPr>
        <p:txBody>
          <a:bodyPr/>
          <a:lstStyle/>
          <a:p>
            <a:r>
              <a:rPr lang="en-US" dirty="0"/>
              <a:t>Consumption (C)</a:t>
            </a:r>
          </a:p>
          <a:p>
            <a:r>
              <a:rPr lang="en-US" sz="1600" dirty="0"/>
              <a:t>Consumption (67%): a final good or service purchased by a household</a:t>
            </a:r>
          </a:p>
          <a:p>
            <a:endParaRPr lang="en-US" sz="1600" dirty="0"/>
          </a:p>
          <a:p>
            <a:r>
              <a:rPr lang="en-US" sz="1600" dirty="0"/>
              <a:t>Goods (21%): a tangible item that consumers gain ownership over when purchasing</a:t>
            </a:r>
          </a:p>
          <a:p>
            <a:pPr lvl="1"/>
            <a:r>
              <a:rPr lang="en-US" sz="1200" dirty="0"/>
              <a:t>Durable Goods (9.5%): Motor Vehicles, Furniture, Recreation Goods</a:t>
            </a:r>
          </a:p>
          <a:p>
            <a:pPr lvl="1"/>
            <a:endParaRPr lang="en-US" sz="1200" dirty="0"/>
          </a:p>
          <a:p>
            <a:pPr lvl="1"/>
            <a:r>
              <a:rPr lang="en-US" sz="1200" dirty="0"/>
              <a:t>Non-Durable Goods (14.9%): Food, Clothing, Gasoline</a:t>
            </a:r>
          </a:p>
          <a:p>
            <a:pPr lvl="1"/>
            <a:endParaRPr lang="en-US" sz="1200" dirty="0"/>
          </a:p>
          <a:p>
            <a:r>
              <a:rPr lang="en-US" sz="1600" dirty="0"/>
              <a:t>Services (47%): an intangible good that we purchase but do not gain ownership of: health care, airline tickets, financial services, etc.</a:t>
            </a:r>
            <a:endParaRPr lang="en-US" sz="1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3703F8E-94B6-1027-B5E6-42B96E344A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6999" y="1779126"/>
            <a:ext cx="4343399" cy="3976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55891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wrap="square" anchor="ctr">
            <a:normAutofit/>
          </a:bodyPr>
          <a:lstStyle/>
          <a:p>
            <a:pPr algn="ctr"/>
            <a:r>
              <a:rPr lang="en-US" dirty="0"/>
              <a:t>Incorporating Housing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199" y="1446505"/>
            <a:ext cx="6700987" cy="4730458"/>
          </a:xfrm>
        </p:spPr>
        <p:txBody>
          <a:bodyPr wrap="square" anchor="t">
            <a:normAutofit/>
          </a:bodyPr>
          <a:lstStyle/>
          <a:p>
            <a:r>
              <a:rPr lang="en-US" sz="1800" dirty="0"/>
              <a:t>Are homes a durable good?</a:t>
            </a:r>
          </a:p>
          <a:p>
            <a:r>
              <a:rPr lang="en-US" sz="1800" b="1" u="sng" dirty="0"/>
              <a:t>New homes</a:t>
            </a:r>
            <a:r>
              <a:rPr lang="en-US" sz="1800" dirty="0"/>
              <a:t> are considered an </a:t>
            </a:r>
            <a:r>
              <a:rPr lang="en-US" sz="1800" i="1" dirty="0"/>
              <a:t>investment</a:t>
            </a:r>
            <a:br>
              <a:rPr lang="en-US" sz="1800" dirty="0"/>
            </a:br>
            <a:r>
              <a:rPr lang="en-US" sz="1800" dirty="0"/>
              <a:t>Household buying a home ~ Firm purchasing a plant</a:t>
            </a:r>
          </a:p>
          <a:p>
            <a:r>
              <a:rPr lang="en-US" sz="1800" dirty="0"/>
              <a:t>Households do not take their home when they move</a:t>
            </a:r>
          </a:p>
          <a:p>
            <a:endParaRPr lang="en-US" sz="1800" dirty="0"/>
          </a:p>
          <a:p>
            <a:r>
              <a:rPr lang="en-US" sz="1800" b="1" u="sng" dirty="0"/>
              <a:t>Rental Housing</a:t>
            </a:r>
            <a:r>
              <a:rPr lang="en-US" sz="1800" dirty="0"/>
              <a:t>: counted as a service</a:t>
            </a:r>
          </a:p>
          <a:p>
            <a:endParaRPr lang="en-US" sz="1800" b="1" u="sng" dirty="0"/>
          </a:p>
          <a:p>
            <a:r>
              <a:rPr lang="en-US" sz="1800" b="1" u="sng" dirty="0"/>
              <a:t>Imputed Rent</a:t>
            </a:r>
            <a:r>
              <a:rPr lang="en-US" sz="1800" dirty="0"/>
              <a:t>: the cost to you if you rented your home </a:t>
            </a:r>
          </a:p>
          <a:p>
            <a:pPr lvl="1"/>
            <a:r>
              <a:rPr lang="en-US" sz="1800" dirty="0"/>
              <a:t>If your home would rent for $1,000/month = $12,000/year, </a:t>
            </a:r>
            <a:br>
              <a:rPr lang="en-US" sz="1800" dirty="0"/>
            </a:br>
            <a:r>
              <a:rPr lang="en-US" sz="1800" dirty="0"/>
              <a:t>count $12,000 in “imputed rent” as a service</a:t>
            </a:r>
          </a:p>
          <a:p>
            <a:pPr lvl="1"/>
            <a:endParaRPr lang="en-US" sz="1800" dirty="0"/>
          </a:p>
          <a:p>
            <a:r>
              <a:rPr lang="en-US" sz="1800" dirty="0"/>
              <a:t>Housing Services make up 12% of the total GDP!</a:t>
            </a:r>
          </a:p>
        </p:txBody>
      </p:sp>
      <p:pic>
        <p:nvPicPr>
          <p:cNvPr id="6" name="Picture 5" descr="A group of colorful buildings&#10;&#10;Description automatically generated">
            <a:extLst>
              <a:ext uri="{FF2B5EF4-FFF2-40B4-BE49-F238E27FC236}">
                <a16:creationId xmlns:a16="http://schemas.microsoft.com/office/drawing/2014/main" id="{7887CCB2-7F10-7BD0-F403-B11452DCDE98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77336" y="1446505"/>
            <a:ext cx="2660882" cy="473045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4096628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Y = C</a:t>
            </a:r>
            <a:r>
              <a:rPr lang="en-US" b="1" dirty="0"/>
              <a:t> </a:t>
            </a:r>
            <a:r>
              <a:rPr lang="en-US" dirty="0"/>
              <a:t>+ </a:t>
            </a:r>
            <a:r>
              <a:rPr lang="en-US" b="1" dirty="0"/>
              <a:t>I </a:t>
            </a:r>
            <a:r>
              <a:rPr lang="en-US" dirty="0"/>
              <a:t>+ G + NX</a:t>
            </a:r>
            <a:endParaRPr lang="en-US" sz="5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37147" y="1600200"/>
            <a:ext cx="5026742" cy="4495800"/>
          </a:xfrm>
        </p:spPr>
        <p:txBody>
          <a:bodyPr/>
          <a:lstStyle/>
          <a:p>
            <a:pPr marL="0" indent="0" algn="ctr">
              <a:buNone/>
            </a:pPr>
            <a:r>
              <a:rPr lang="en-US" sz="4000" dirty="0"/>
              <a:t>Investment (I)</a:t>
            </a:r>
          </a:p>
          <a:p>
            <a:r>
              <a:rPr lang="en-US" sz="1800" dirty="0"/>
              <a:t>Investment (18%): goods and services purchased by firms</a:t>
            </a:r>
          </a:p>
          <a:p>
            <a:endParaRPr lang="en-US" sz="1800" dirty="0"/>
          </a:p>
          <a:p>
            <a:r>
              <a:rPr lang="en-US" sz="1800" dirty="0"/>
              <a:t>Nonresidential Investment (13.9%): Capital machinery and plants</a:t>
            </a:r>
          </a:p>
          <a:p>
            <a:pPr lvl="1"/>
            <a:r>
              <a:rPr lang="en-US" sz="1400" dirty="0"/>
              <a:t>Tractor, Assembly Line Part, Computer, Software, Desk, Building/Plant</a:t>
            </a:r>
          </a:p>
          <a:p>
            <a:pPr marL="344487" lvl="1" indent="0">
              <a:buNone/>
            </a:pPr>
            <a:endParaRPr lang="en-US" sz="1400" dirty="0"/>
          </a:p>
          <a:p>
            <a:r>
              <a:rPr lang="en-US" sz="1800" dirty="0"/>
              <a:t>Residential Investment (4.0%): New home construction</a:t>
            </a:r>
          </a:p>
          <a:p>
            <a:endParaRPr lang="en-US" sz="1800" dirty="0"/>
          </a:p>
          <a:p>
            <a:r>
              <a:rPr lang="en-US" sz="1800" dirty="0"/>
              <a:t>Change in Private Inventories (~0%)</a:t>
            </a:r>
            <a:br>
              <a:rPr lang="en-US" sz="1800" dirty="0"/>
            </a:br>
            <a:br>
              <a:rPr lang="en-US" sz="1800" dirty="0"/>
            </a:br>
            <a:br>
              <a:rPr lang="en-US" sz="1800" dirty="0"/>
            </a:br>
            <a:endParaRPr lang="en-US" sz="1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264B40D-8244-5530-9206-2CE8E236C3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2948" y="1690688"/>
            <a:ext cx="4066782" cy="4512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68936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600" dirty="0"/>
              <a:t>Change in Private Inventories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5460" y="1690688"/>
            <a:ext cx="4200390" cy="4495800"/>
          </a:xfrm>
        </p:spPr>
        <p:txBody>
          <a:bodyPr/>
          <a:lstStyle/>
          <a:p>
            <a:pPr marL="0" indent="0" algn="ctr">
              <a:buNone/>
            </a:pPr>
            <a:r>
              <a:rPr lang="en-US" sz="1600" dirty="0"/>
              <a:t>Campus Bookstore in 2024</a:t>
            </a:r>
          </a:p>
          <a:p>
            <a:pPr marL="0" indent="0" algn="ctr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/>
              <a:t>$10,000 worth of hoodies made and up for sale!</a:t>
            </a:r>
          </a:p>
          <a:p>
            <a:pPr marL="0" indent="0">
              <a:buNone/>
            </a:pPr>
            <a:r>
              <a:rPr lang="en-US" sz="1600" dirty="0"/>
              <a:t>GDP in 2024 increases by $10,000</a:t>
            </a:r>
          </a:p>
          <a:p>
            <a:pPr marL="0" indent="0">
              <a:buNone/>
            </a:pPr>
            <a:r>
              <a:rPr lang="en-US" sz="1600" dirty="0"/>
              <a:t>Sell $8,000 worth of hoodies</a:t>
            </a:r>
          </a:p>
          <a:p>
            <a:pPr marL="0" indent="0">
              <a:buNone/>
            </a:pPr>
            <a:r>
              <a:rPr lang="en-US" sz="1600" dirty="0"/>
              <a:t>Consumption in 2024 increases by???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/>
              <a:t>$2,000 worth of hoodies unsold at the end of the year</a:t>
            </a:r>
          </a:p>
          <a:p>
            <a:pPr marL="0" indent="0">
              <a:buNone/>
            </a:pPr>
            <a:r>
              <a:rPr lang="en-US" sz="1600" dirty="0"/>
              <a:t>Added to inventory/stock room/etc.</a:t>
            </a:r>
          </a:p>
          <a:p>
            <a:pPr marL="0" indent="0">
              <a:buNone/>
            </a:pPr>
            <a:r>
              <a:rPr lang="en-US" sz="1600" dirty="0"/>
              <a:t>Increase inventory in 2024 = increase investment in 2024</a:t>
            </a:r>
          </a:p>
          <a:p>
            <a:pPr marL="0" indent="0">
              <a:buNone/>
            </a:pPr>
            <a:r>
              <a:rPr lang="en-US" sz="1600" dirty="0"/>
              <a:t>﻿</a:t>
            </a:r>
          </a:p>
          <a:p>
            <a:pPr marL="0" indent="0">
              <a:buNone/>
            </a:pPr>
            <a:br>
              <a:rPr lang="en-US" sz="900" dirty="0"/>
            </a:br>
            <a:br>
              <a:rPr lang="en-US" sz="900" dirty="0"/>
            </a:br>
            <a:br>
              <a:rPr lang="en-US" sz="900" dirty="0"/>
            </a:br>
            <a:endParaRPr lang="en-US" sz="9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204DD29-DD50-6E0C-51CB-87640C7B70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8669" y="1357826"/>
            <a:ext cx="2139659" cy="5500174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C5207B5-4154-C6DB-1B4F-C4853C00E83D}"/>
              </a:ext>
            </a:extLst>
          </p:cNvPr>
          <p:cNvSpPr txBox="1">
            <a:spLocks/>
          </p:cNvSpPr>
          <p:nvPr/>
        </p:nvSpPr>
        <p:spPr bwMode="auto">
          <a:xfrm>
            <a:off x="7521147" y="1690688"/>
            <a:ext cx="4385103" cy="449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1" fontAlgn="base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dirty="0"/>
              <a:t>Campus Bookstore in 2025</a:t>
            </a:r>
          </a:p>
          <a:p>
            <a:pPr marL="0" indent="0" algn="ctr">
              <a:buFont typeface="Arial" panose="020B0604020202020204" pitchFamily="34" charset="0"/>
              <a:buNone/>
            </a:pPr>
            <a:endParaRPr lang="en-US" sz="16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600" dirty="0"/>
              <a:t>Remaining $2,000 in hoodies sold!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600" dirty="0"/>
              <a:t>Consumption in 2025 increases by $2,000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600" dirty="0"/>
              <a:t>Where did the hoodies come from?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600" dirty="0"/>
              <a:t>Inventory/stock room/etc. (not produced)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600" dirty="0"/>
              <a:t>Decrease in inventory of $2,000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600" dirty="0"/>
              <a:t>Change in Inventory = -$2,000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600" dirty="0"/>
              <a:t>Investment decreases by $2,000 in 2025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600" dirty="0"/>
              <a:t>Total Change in 2025 GDP? $0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600" dirty="0"/>
              <a:t>Consumption = +$2,000, Investment = -$2,000﻿</a:t>
            </a:r>
          </a:p>
          <a:p>
            <a:pPr marL="0" indent="0">
              <a:buFont typeface="Arial" panose="020B0604020202020204" pitchFamily="34" charset="0"/>
              <a:buNone/>
            </a:pPr>
            <a:br>
              <a:rPr lang="en-US" sz="900" dirty="0"/>
            </a:br>
            <a:br>
              <a:rPr lang="en-US" sz="900" dirty="0"/>
            </a:br>
            <a:br>
              <a:rPr lang="en-US" sz="900" dirty="0"/>
            </a:b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0260147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000" dirty="0"/>
              <a:t>Y = C</a:t>
            </a:r>
            <a:r>
              <a:rPr lang="en-US" sz="4000" b="1" dirty="0"/>
              <a:t> </a:t>
            </a:r>
            <a:r>
              <a:rPr lang="en-US" sz="4000" dirty="0"/>
              <a:t>+ I + </a:t>
            </a:r>
            <a:r>
              <a:rPr lang="en-US" sz="4000" b="1" dirty="0"/>
              <a:t>G</a:t>
            </a:r>
            <a:r>
              <a:rPr lang="en-US" sz="4000" dirty="0"/>
              <a:t> + NX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545241"/>
            <a:ext cx="8382000" cy="4947634"/>
          </a:xfrm>
        </p:spPr>
        <p:txBody>
          <a:bodyPr/>
          <a:lstStyle/>
          <a:p>
            <a:pPr marL="0" indent="0" algn="ctr">
              <a:buNone/>
            </a:pPr>
            <a:r>
              <a:rPr lang="en-US" sz="3200" dirty="0"/>
              <a:t>Government Purchases (G)</a:t>
            </a:r>
            <a:endParaRPr lang="en-US" sz="1800" dirty="0"/>
          </a:p>
          <a:p>
            <a:r>
              <a:rPr lang="en-US" sz="1800" dirty="0"/>
              <a:t>Government Purchases (17.2%): Goods and services that the government buys</a:t>
            </a:r>
          </a:p>
          <a:p>
            <a:r>
              <a:rPr lang="en-US" sz="1800" dirty="0"/>
              <a:t>Federal Spending (6.5%): bought by the Federal Government</a:t>
            </a:r>
          </a:p>
          <a:p>
            <a:pPr lvl="1"/>
            <a:r>
              <a:rPr lang="en-US" sz="1400" dirty="0"/>
              <a:t>National Defense (3.7%)</a:t>
            </a:r>
          </a:p>
          <a:p>
            <a:pPr lvl="1"/>
            <a:r>
              <a:rPr lang="en-US" sz="1400" dirty="0"/>
              <a:t>What else?</a:t>
            </a:r>
          </a:p>
          <a:p>
            <a:endParaRPr lang="en-US" sz="1400" dirty="0"/>
          </a:p>
          <a:p>
            <a:r>
              <a:rPr lang="en-US" sz="1800" dirty="0"/>
              <a:t>State and Local Spending (10.7%): bought by local governments</a:t>
            </a:r>
          </a:p>
          <a:p>
            <a:endParaRPr lang="en-US" sz="1800" dirty="0"/>
          </a:p>
          <a:p>
            <a:r>
              <a:rPr lang="en-US" sz="1800" dirty="0"/>
              <a:t>Does not include transfer payments such as Social Security, Unemployment Benefits, Welfare. Why?</a:t>
            </a:r>
            <a:endParaRPr lang="en-US" sz="11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BA1DCD0-24D2-50A5-22DD-24227EC9326F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885670" y="5097664"/>
            <a:ext cx="8573060" cy="1395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91099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000" dirty="0"/>
              <a:t>Y = C</a:t>
            </a:r>
            <a:r>
              <a:rPr lang="en-US" sz="4000" b="1" dirty="0"/>
              <a:t> </a:t>
            </a:r>
            <a:r>
              <a:rPr lang="en-US" sz="4000" dirty="0"/>
              <a:t>+ I + G + </a:t>
            </a:r>
            <a:r>
              <a:rPr lang="en-US" sz="4000" b="1" dirty="0"/>
              <a:t>NX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05000" y="2885717"/>
            <a:ext cx="8382000" cy="3003589"/>
          </a:xfrm>
        </p:spPr>
        <p:txBody>
          <a:bodyPr/>
          <a:lstStyle/>
          <a:p>
            <a:pPr marL="0" indent="0" algn="ctr">
              <a:buNone/>
            </a:pPr>
            <a:r>
              <a:rPr lang="en-US" dirty="0"/>
              <a:t>Net Exports (NX)</a:t>
            </a:r>
          </a:p>
          <a:p>
            <a:r>
              <a:rPr lang="en-US" sz="1800" dirty="0"/>
              <a:t>Net Exports (NX) = Exports (X) minus Imports (M) = X – M</a:t>
            </a:r>
          </a:p>
          <a:p>
            <a:endParaRPr lang="en-US" sz="1800" dirty="0"/>
          </a:p>
          <a:p>
            <a:r>
              <a:rPr lang="en-US" sz="1800" dirty="0"/>
              <a:t>Exports (X) : Goods and services purchased BY foreign entities</a:t>
            </a:r>
          </a:p>
          <a:p>
            <a:r>
              <a:rPr lang="en-US" sz="1800" dirty="0"/>
              <a:t>Imports (M) : Goods and services bought FROM foreign entities</a:t>
            </a:r>
            <a:endParaRPr lang="en-US" sz="1400" dirty="0"/>
          </a:p>
          <a:p>
            <a:endParaRPr lang="en-US" sz="1800" dirty="0"/>
          </a:p>
          <a:p>
            <a:r>
              <a:rPr lang="en-US" sz="1800" dirty="0"/>
              <a:t>Exports are 10.8% of GDP</a:t>
            </a:r>
          </a:p>
          <a:p>
            <a:r>
              <a:rPr lang="en-US" sz="1800" dirty="0"/>
              <a:t>Imports are 13.2% of GDP</a:t>
            </a:r>
          </a:p>
          <a:p>
            <a:r>
              <a:rPr lang="en-US" sz="1800" dirty="0"/>
              <a:t>Net Exports are 10.8% - 13.2% = -2.4% of GDP</a:t>
            </a:r>
            <a:endParaRPr lang="en-US" sz="8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D1490D2-25EA-BD05-E828-53DFCCEFD5A5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697162" y="1295401"/>
            <a:ext cx="6797675" cy="1504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28171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wrap="square" anchor="ctr">
            <a:normAutofit/>
          </a:bodyPr>
          <a:lstStyle/>
          <a:p>
            <a:pPr algn="ctr"/>
            <a:r>
              <a:rPr lang="nn-NO" dirty="0"/>
              <a:t>Y = C + I + G + NX</a:t>
            </a:r>
            <a:endParaRPr lang="en-US" dirty="0"/>
          </a:p>
        </p:txBody>
      </p:sp>
      <p:pic>
        <p:nvPicPr>
          <p:cNvPr id="5" name="Picture 4" descr="A map of the world&#10;&#10;Description automatically generated">
            <a:extLst>
              <a:ext uri="{FF2B5EF4-FFF2-40B4-BE49-F238E27FC236}">
                <a16:creationId xmlns:a16="http://schemas.microsoft.com/office/drawing/2014/main" id="{489BCE18-D478-6491-270A-BE2CC3169ED0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38200" y="1825625"/>
            <a:ext cx="4381500" cy="4351338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>
          <a:xfrm>
            <a:off x="5467350" y="1825625"/>
            <a:ext cx="5886450" cy="4667250"/>
          </a:xfrm>
        </p:spPr>
        <p:txBody>
          <a:bodyPr wrap="square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2600" dirty="0"/>
              <a:t>US Nominal GDP </a:t>
            </a:r>
            <a:r>
              <a:rPr lang="en-US" sz="2600"/>
              <a:t>in 2025 </a:t>
            </a:r>
            <a:r>
              <a:rPr lang="en-US" sz="2600" dirty="0"/>
              <a:t>Q3</a:t>
            </a:r>
          </a:p>
          <a:p>
            <a:pPr marL="0" indent="0" algn="ctr">
              <a:buNone/>
            </a:pPr>
            <a:endParaRPr lang="en-US" sz="2600" dirty="0"/>
          </a:p>
          <a:p>
            <a:pPr marL="0" indent="0" algn="ctr">
              <a:buNone/>
            </a:pPr>
            <a:r>
              <a:rPr lang="en-US" sz="2600" dirty="0"/>
              <a:t>C = 21.11 Trillion</a:t>
            </a:r>
          </a:p>
          <a:p>
            <a:pPr marL="0" indent="0" algn="ctr">
              <a:buNone/>
            </a:pPr>
            <a:r>
              <a:rPr lang="en-US" sz="2600" dirty="0"/>
              <a:t>I = 5.42 Trillion</a:t>
            </a:r>
          </a:p>
          <a:p>
            <a:pPr marL="0" indent="0" algn="ctr">
              <a:buNone/>
            </a:pPr>
            <a:r>
              <a:rPr lang="en-US" sz="2600" dirty="0"/>
              <a:t>G = 5.32 Trillion</a:t>
            </a:r>
          </a:p>
          <a:p>
            <a:pPr marL="0" indent="0" algn="ctr">
              <a:buNone/>
            </a:pPr>
            <a:r>
              <a:rPr lang="en-US" sz="2600" dirty="0"/>
              <a:t>X = 3.36 Trillion</a:t>
            </a:r>
          </a:p>
          <a:p>
            <a:pPr marL="0" indent="0" algn="ctr">
              <a:buNone/>
            </a:pPr>
            <a:r>
              <a:rPr lang="en-US" sz="2600" dirty="0"/>
              <a:t>M = 4.12 Trillion</a:t>
            </a:r>
          </a:p>
          <a:p>
            <a:pPr marL="0" indent="0" algn="ctr">
              <a:buNone/>
            </a:pPr>
            <a:endParaRPr lang="en-US" sz="2600" dirty="0"/>
          </a:p>
          <a:p>
            <a:pPr marL="0" indent="0" algn="ctr">
              <a:buNone/>
            </a:pPr>
            <a:r>
              <a:rPr lang="en-US" sz="2600" dirty="0"/>
              <a:t>Y = 21.11 + 5.42 + 5.32 + (3.36 – 4.12) = </a:t>
            </a:r>
          </a:p>
          <a:p>
            <a:pPr marL="0" indent="0" algn="ctr">
              <a:buNone/>
            </a:pPr>
            <a:r>
              <a:rPr lang="en-US" sz="2600" dirty="0"/>
              <a:t>31.095 Trillion</a:t>
            </a:r>
          </a:p>
        </p:txBody>
      </p:sp>
    </p:spTree>
    <p:extLst>
      <p:ext uri="{BB962C8B-B14F-4D97-AF65-F5344CB8AC3E}">
        <p14:creationId xmlns:p14="http://schemas.microsoft.com/office/powerpoint/2010/main" val="14464935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4127699-309A-07FF-5D61-EBC8713E8E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548" y="1485900"/>
            <a:ext cx="7772400" cy="38862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CFF6638F-533F-42AF-D68A-CB9B42C996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Total US GDP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B2859A7-5B40-DC01-B8AE-0488D19B000D}"/>
              </a:ext>
            </a:extLst>
          </p:cNvPr>
          <p:cNvGraphicFramePr>
            <a:graphicFrameLocks noGrp="1"/>
          </p:cNvGraphicFramePr>
          <p:nvPr/>
        </p:nvGraphicFramePr>
        <p:xfrm>
          <a:off x="6518643" y="3396916"/>
          <a:ext cx="5257800" cy="29667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785743">
                  <a:extLst>
                    <a:ext uri="{9D8B030D-6E8A-4147-A177-3AD203B41FA5}">
                      <a16:colId xmlns:a16="http://schemas.microsoft.com/office/drawing/2014/main" val="1258603643"/>
                    </a:ext>
                  </a:extLst>
                </a:gridCol>
                <a:gridCol w="1137939">
                  <a:extLst>
                    <a:ext uri="{9D8B030D-6E8A-4147-A177-3AD203B41FA5}">
                      <a16:colId xmlns:a16="http://schemas.microsoft.com/office/drawing/2014/main" val="2950672158"/>
                    </a:ext>
                  </a:extLst>
                </a:gridCol>
                <a:gridCol w="1137939">
                  <a:extLst>
                    <a:ext uri="{9D8B030D-6E8A-4147-A177-3AD203B41FA5}">
                      <a16:colId xmlns:a16="http://schemas.microsoft.com/office/drawing/2014/main" val="4274497676"/>
                    </a:ext>
                  </a:extLst>
                </a:gridCol>
                <a:gridCol w="1137939">
                  <a:extLst>
                    <a:ext uri="{9D8B030D-6E8A-4147-A177-3AD203B41FA5}">
                      <a16:colId xmlns:a16="http://schemas.microsoft.com/office/drawing/2014/main" val="3326947398"/>
                    </a:ext>
                  </a:extLst>
                </a:gridCol>
                <a:gridCol w="1058240">
                  <a:extLst>
                    <a:ext uri="{9D8B030D-6E8A-4147-A177-3AD203B41FA5}">
                      <a16:colId xmlns:a16="http://schemas.microsoft.com/office/drawing/2014/main" val="11026288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Q1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Q2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Q3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Q4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2070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21,104.1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21,384.8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21,694.3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21,902.4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67077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21,706.5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19,913.1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21,647.6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22,024.5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52549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2021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22,600.2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23,292.4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23,829.0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24,654.6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1544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25,029.1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25,544.3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25,994.6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26,408.4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28174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26,813.6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27,063.0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27,610.1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27,957.0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95172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28,624.1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29,016.7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29,349.9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latin typeface="+mn-lt"/>
                        </a:rPr>
                        <a:t>29,825.2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487065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30,042.1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30,485.7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31,095.1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800" b="0" dirty="0"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422393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547702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State GDP by Country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1AF2E14-B8DA-AC29-26E7-7EEE42E186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2616" y="1451825"/>
            <a:ext cx="7066767" cy="4918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8661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22765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Alternative Measures of GDP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95800" y="1143000"/>
            <a:ext cx="6858000" cy="5105400"/>
          </a:xfrm>
        </p:spPr>
        <p:txBody>
          <a:bodyPr/>
          <a:lstStyle/>
          <a:p>
            <a:r>
              <a:rPr lang="en-US" sz="1800" dirty="0"/>
              <a:t>Remember Best Buy:</a:t>
            </a:r>
          </a:p>
          <a:p>
            <a:pPr lvl="1"/>
            <a:r>
              <a:rPr lang="en-US" sz="1400" dirty="0"/>
              <a:t>Step 1: Raw materials are gathered, sold to parts manufacturer for $50</a:t>
            </a:r>
            <a:br>
              <a:rPr lang="en-US" sz="1400" dirty="0"/>
            </a:br>
            <a:r>
              <a:rPr lang="en-US" sz="1400" dirty="0"/>
              <a:t>Step 2: Parts are created by manufacturer and sold to Dell for $150</a:t>
            </a:r>
            <a:br>
              <a:rPr lang="en-US" sz="1400" dirty="0"/>
            </a:br>
            <a:r>
              <a:rPr lang="en-US" sz="1400" dirty="0"/>
              <a:t>Step 3: Dell assembles the computer and sells to Best Buy for $350</a:t>
            </a:r>
            <a:br>
              <a:rPr lang="en-US" sz="1400" dirty="0"/>
            </a:br>
            <a:r>
              <a:rPr lang="en-US" sz="1400" dirty="0"/>
              <a:t>Step 4: Best Buy sells computer to you for $400</a:t>
            </a:r>
          </a:p>
          <a:p>
            <a:r>
              <a:rPr lang="en-US" sz="1800" dirty="0"/>
              <a:t>We only add the final $400 sale to GDP (do not double count!)</a:t>
            </a:r>
          </a:p>
          <a:p>
            <a:endParaRPr lang="en-US" sz="1800" dirty="0"/>
          </a:p>
          <a:p>
            <a:r>
              <a:rPr lang="en-US" sz="1800" dirty="0"/>
              <a:t>Each stage of the production process adds value to the final product</a:t>
            </a:r>
          </a:p>
          <a:p>
            <a:pPr lvl="1"/>
            <a:r>
              <a:rPr lang="en-US" sz="1400" dirty="0"/>
              <a:t>Step 1: $50 in raw materials sold to parts manufacturer ($50 in value)</a:t>
            </a:r>
            <a:br>
              <a:rPr lang="en-US" sz="1400" dirty="0"/>
            </a:br>
            <a:r>
              <a:rPr lang="en-US" sz="1400" dirty="0"/>
              <a:t>Step 2: $50 in raw materials sold becomes $150 worth of parts ($100 in value-added)</a:t>
            </a:r>
            <a:br>
              <a:rPr lang="en-US" sz="1400" dirty="0"/>
            </a:br>
            <a:r>
              <a:rPr lang="en-US" sz="1400" dirty="0"/>
              <a:t>Step 3: $150 in parts assembled and sold for $350 ($200 in value-added)</a:t>
            </a:r>
            <a:br>
              <a:rPr lang="en-US" sz="1400" dirty="0"/>
            </a:br>
            <a:r>
              <a:rPr lang="en-US" sz="1400" dirty="0"/>
              <a:t>Step 4: $350 computer sold for $400 at central location ($50 in added-value)</a:t>
            </a:r>
          </a:p>
          <a:p>
            <a:endParaRPr lang="en-US" sz="1800" dirty="0"/>
          </a:p>
          <a:p>
            <a:r>
              <a:rPr lang="en-US" sz="1800" dirty="0"/>
              <a:t>Each step adds value to the product = “Profit” of the firm</a:t>
            </a:r>
          </a:p>
          <a:p>
            <a:r>
              <a:rPr lang="en-US" sz="1800" dirty="0"/>
              <a:t>Value-Added GDP = 50 + 100 + 200 + 50 = </a:t>
            </a:r>
            <a:r>
              <a:rPr lang="en-US" sz="1800" b="1" dirty="0"/>
              <a:t>$400</a:t>
            </a:r>
          </a:p>
          <a:p>
            <a:r>
              <a:rPr lang="en-US" sz="1800" dirty="0"/>
              <a:t>Value-Added GDP = Firm Profit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27EA24-F8B7-96B6-D5B0-CA68B30F57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532" y="1143000"/>
            <a:ext cx="2742936" cy="510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44664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Alternative Measures of GDP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17737" y="1600201"/>
            <a:ext cx="5484312" cy="4299762"/>
          </a:xfrm>
        </p:spPr>
        <p:txBody>
          <a:bodyPr/>
          <a:lstStyle/>
          <a:p>
            <a:r>
              <a:rPr lang="en-US" sz="2000" dirty="0"/>
              <a:t>Best Buy made $50. Who gets that $50?</a:t>
            </a:r>
          </a:p>
          <a:p>
            <a:pPr lvl="1"/>
            <a:r>
              <a:rPr lang="en-US" sz="2000" dirty="0"/>
              <a:t>Labor = Income</a:t>
            </a:r>
          </a:p>
          <a:p>
            <a:pPr lvl="1"/>
            <a:r>
              <a:rPr lang="en-US" sz="2000" dirty="0"/>
              <a:t>Rent = Landlord Income</a:t>
            </a:r>
          </a:p>
          <a:p>
            <a:pPr lvl="1"/>
            <a:r>
              <a:rPr lang="en-US" sz="2000" dirty="0"/>
              <a:t>Interest Payment = Bank/Lender = Income</a:t>
            </a:r>
          </a:p>
          <a:p>
            <a:pPr lvl="1"/>
            <a:r>
              <a:rPr lang="en-US" sz="2000" dirty="0"/>
              <a:t>Owner = Income</a:t>
            </a:r>
          </a:p>
          <a:p>
            <a:endParaRPr lang="en-US" sz="2000" dirty="0"/>
          </a:p>
          <a:p>
            <a:r>
              <a:rPr lang="en-US" sz="2000" dirty="0"/>
              <a:t>Factor Payments GDP = Household Income!</a:t>
            </a:r>
          </a:p>
          <a:p>
            <a:r>
              <a:rPr lang="en-US" sz="2000" dirty="0"/>
              <a:t>GDP = Y =</a:t>
            </a:r>
          </a:p>
          <a:p>
            <a:pPr lvl="1"/>
            <a:r>
              <a:rPr lang="en-US" sz="1600" dirty="0"/>
              <a:t>Total Production (Expenditure Approach)</a:t>
            </a:r>
          </a:p>
          <a:p>
            <a:pPr lvl="1"/>
            <a:r>
              <a:rPr lang="en-US" sz="1600" dirty="0"/>
              <a:t>Firm Profit (Value-Added Approach)</a:t>
            </a:r>
          </a:p>
          <a:p>
            <a:pPr lvl="1"/>
            <a:r>
              <a:rPr lang="en-US" sz="1600" dirty="0"/>
              <a:t>Household Income (Factor Payments Approach)</a:t>
            </a:r>
            <a:endParaRPr lang="en-US" sz="1600" dirty="0">
              <a:sym typeface="Wingdings" panose="05000000000000000000" pitchFamily="2" charset="2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8EC2D07-7284-564B-98E7-9A5C91A950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2910" y="1600201"/>
            <a:ext cx="3017722" cy="4299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91988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Shortcomings of GDP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B76C458-34B6-AE2F-F9DB-41EFBFFC96A2}"/>
              </a:ext>
            </a:extLst>
          </p:cNvPr>
          <p:cNvSpPr txBox="1">
            <a:spLocks/>
          </p:cNvSpPr>
          <p:nvPr/>
        </p:nvSpPr>
        <p:spPr bwMode="auto">
          <a:xfrm>
            <a:off x="8485730" y="1143000"/>
            <a:ext cx="2209800" cy="510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Blip>
                <a:blip r:embed="rId2"/>
              </a:buBlip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2150" indent="-34766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Blip>
                <a:blip r:embed="rId3"/>
              </a:buBlip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87425" indent="-29368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Blip>
                <a:blip r:embed="rId4"/>
              </a:buBlip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1113" indent="-2921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Blip>
                <a:blip r:embed="rId3"/>
              </a:buBlip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98613" indent="-3159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Blip>
                <a:blip r:embed="rId4"/>
              </a:buBlip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400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50F3E53-0D14-1A14-EEC5-F636C61F61D8}"/>
              </a:ext>
            </a:extLst>
          </p:cNvPr>
          <p:cNvSpPr txBox="1">
            <a:spLocks/>
          </p:cNvSpPr>
          <p:nvPr/>
        </p:nvSpPr>
        <p:spPr bwMode="auto">
          <a:xfrm>
            <a:off x="726509" y="1387475"/>
            <a:ext cx="10885117" cy="510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Blip>
                <a:blip r:embed="rId2"/>
              </a:buBlip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2150" indent="-34766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Blip>
                <a:blip r:embed="rId3"/>
              </a:buBlip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87425" indent="-29368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Blip>
                <a:blip r:embed="rId4"/>
              </a:buBlip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1113" indent="-2921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Blip>
                <a:blip r:embed="rId3"/>
              </a:buBlip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98613" indent="-3159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Blip>
                <a:blip r:embed="rId4"/>
              </a:buBlip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 dirty="0">
                <a:solidFill>
                  <a:srgbClr val="484240"/>
                </a:solidFill>
              </a:rPr>
              <a:t>Household Activities: </a:t>
            </a:r>
            <a:r>
              <a:rPr lang="en-US" sz="1600" dirty="0">
                <a:latin typeface="Aptos" panose="020B0004020202020204" pitchFamily="34" charset="0"/>
              </a:rPr>
              <a:t>GDP ignores vital household activities like childcare and home maintenance</a:t>
            </a:r>
          </a:p>
          <a:p>
            <a:pPr marL="0" indent="0">
              <a:buNone/>
            </a:pPr>
            <a:r>
              <a:rPr lang="en-US" sz="1600" b="1" dirty="0">
                <a:solidFill>
                  <a:srgbClr val="484240"/>
                </a:solidFill>
              </a:rPr>
              <a:t>Illegal Sales and Work: </a:t>
            </a:r>
            <a:r>
              <a:rPr lang="en-US" sz="1600" dirty="0">
                <a:latin typeface="Aptos" panose="020B0004020202020204" pitchFamily="34" charset="0"/>
              </a:rPr>
              <a:t>GDP does not capture illegal sales and work in the black market or underground economy.</a:t>
            </a:r>
          </a:p>
          <a:p>
            <a:pPr marL="0" indent="0">
              <a:buNone/>
            </a:pPr>
            <a:r>
              <a:rPr lang="en-US" sz="1800" b="1" dirty="0">
                <a:solidFill>
                  <a:srgbClr val="484240"/>
                </a:solidFill>
              </a:rPr>
              <a:t>Changing Labor Force Dynamics: </a:t>
            </a:r>
            <a:r>
              <a:rPr lang="en-US" sz="1600" dirty="0"/>
              <a:t>GDP overlooks gig economy and changes in the characteristics of workers and jobs</a:t>
            </a:r>
          </a:p>
          <a:p>
            <a:pPr marL="0" indent="0">
              <a:buNone/>
            </a:pPr>
            <a:endParaRPr lang="en-US" sz="1600" dirty="0">
              <a:latin typeface="Aptos" panose="020B0004020202020204" pitchFamily="34" charset="0"/>
            </a:endParaRPr>
          </a:p>
          <a:p>
            <a:pPr marL="0" indent="0">
              <a:buNone/>
            </a:pPr>
            <a:endParaRPr lang="en-US" sz="1600" dirty="0">
              <a:latin typeface="Aptos" panose="020B0004020202020204" pitchFamily="34" charset="0"/>
            </a:endParaRPr>
          </a:p>
          <a:p>
            <a:pPr marL="0" indent="0">
              <a:buNone/>
            </a:pPr>
            <a:endParaRPr lang="en-US" sz="1100" dirty="0">
              <a:latin typeface="+mj-lt"/>
            </a:endParaRPr>
          </a:p>
        </p:txBody>
      </p:sp>
      <p:pic>
        <p:nvPicPr>
          <p:cNvPr id="5" name="Picture 4" descr="A graph of a blue line&#10;&#10;Description automatically generated">
            <a:extLst>
              <a:ext uri="{FF2B5EF4-FFF2-40B4-BE49-F238E27FC236}">
                <a16:creationId xmlns:a16="http://schemas.microsoft.com/office/drawing/2014/main" id="{46C85F2A-A520-5874-2A2A-384E3AE326A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91052" y="2343165"/>
            <a:ext cx="6609896" cy="4149710"/>
          </a:xfrm>
          <a:prstGeom prst="rect">
            <a:avLst/>
          </a:prstGeom>
          <a:solidFill>
            <a:schemeClr val="bg1"/>
          </a:solidFill>
        </p:spPr>
      </p:pic>
    </p:spTree>
    <p:extLst>
      <p:ext uri="{BB962C8B-B14F-4D97-AF65-F5344CB8AC3E}">
        <p14:creationId xmlns:p14="http://schemas.microsoft.com/office/powerpoint/2010/main" val="27453626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98417"/>
            <a:ext cx="10515600" cy="1325563"/>
          </a:xfrm>
        </p:spPr>
        <p:txBody>
          <a:bodyPr/>
          <a:lstStyle/>
          <a:p>
            <a:pPr algn="ctr"/>
            <a:r>
              <a:rPr lang="en-US" sz="3600" dirty="0"/>
              <a:t>GDP and Well Being?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22645" y="1253331"/>
            <a:ext cx="9946710" cy="4351338"/>
          </a:xfrm>
        </p:spPr>
        <p:txBody>
          <a:bodyPr/>
          <a:lstStyle/>
          <a:p>
            <a:pPr marL="0" indent="0" algn="ctr">
              <a:buNone/>
            </a:pPr>
            <a:r>
              <a:rPr lang="en-US" sz="2400" dirty="0"/>
              <a:t>GDP/Capita, Inequality, Health, Gross National Happiness (GNH)</a:t>
            </a:r>
          </a:p>
        </p:txBody>
      </p:sp>
      <p:pic>
        <p:nvPicPr>
          <p:cNvPr id="5" name="Picture 4" descr="A graph with a line going up&#10;&#10;Description automatically generated">
            <a:extLst>
              <a:ext uri="{FF2B5EF4-FFF2-40B4-BE49-F238E27FC236}">
                <a16:creationId xmlns:a16="http://schemas.microsoft.com/office/drawing/2014/main" id="{89F67D52-8399-BE48-3EF7-CA9FCC39802B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6185" y="1690689"/>
            <a:ext cx="5816023" cy="3620348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8" name="Picture 7" descr="A graph of a growing graph&#10;&#10;Description automatically generated">
            <a:extLst>
              <a:ext uri="{FF2B5EF4-FFF2-40B4-BE49-F238E27FC236}">
                <a16:creationId xmlns:a16="http://schemas.microsoft.com/office/drawing/2014/main" id="{F927C565-0216-2DE1-828C-5CD8FB380A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6570" y="2578894"/>
            <a:ext cx="6429245" cy="4002066"/>
          </a:xfrm>
          <a:prstGeom prst="rect">
            <a:avLst/>
          </a:prstGeom>
          <a:solidFill>
            <a:schemeClr val="bg1"/>
          </a:solidFill>
        </p:spPr>
      </p:pic>
    </p:spTree>
    <p:extLst>
      <p:ext uri="{BB962C8B-B14F-4D97-AF65-F5344CB8AC3E}">
        <p14:creationId xmlns:p14="http://schemas.microsoft.com/office/powerpoint/2010/main" val="40477061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Calculating GDP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Simple UCSB Economy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2755786"/>
              </p:ext>
            </p:extLst>
          </p:nvPr>
        </p:nvGraphicFramePr>
        <p:xfrm>
          <a:off x="4096753" y="2749446"/>
          <a:ext cx="3998494" cy="1854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245283">
                  <a:extLst>
                    <a:ext uri="{9D8B030D-6E8A-4147-A177-3AD203B41FA5}">
                      <a16:colId xmlns:a16="http://schemas.microsoft.com/office/drawing/2014/main" val="3048119973"/>
                    </a:ext>
                  </a:extLst>
                </a:gridCol>
                <a:gridCol w="1132447">
                  <a:extLst>
                    <a:ext uri="{9D8B030D-6E8A-4147-A177-3AD203B41FA5}">
                      <a16:colId xmlns:a16="http://schemas.microsoft.com/office/drawing/2014/main" val="3200669110"/>
                    </a:ext>
                  </a:extLst>
                </a:gridCol>
                <a:gridCol w="1620764">
                  <a:extLst>
                    <a:ext uri="{9D8B030D-6E8A-4147-A177-3AD203B41FA5}">
                      <a16:colId xmlns:a16="http://schemas.microsoft.com/office/drawing/2014/main" val="67875359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2009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01720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Product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Quantity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Price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94506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Food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66623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Housing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80823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Movies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65251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927962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Calculating GDP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Simple UCSB Economy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5486047"/>
              </p:ext>
            </p:extLst>
          </p:nvPr>
        </p:nvGraphicFramePr>
        <p:xfrm>
          <a:off x="3517177" y="3074194"/>
          <a:ext cx="5157646" cy="1854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369245">
                  <a:extLst>
                    <a:ext uri="{9D8B030D-6E8A-4147-A177-3AD203B41FA5}">
                      <a16:colId xmlns:a16="http://schemas.microsoft.com/office/drawing/2014/main" val="3048119973"/>
                    </a:ext>
                  </a:extLst>
                </a:gridCol>
                <a:gridCol w="997267">
                  <a:extLst>
                    <a:ext uri="{9D8B030D-6E8A-4147-A177-3AD203B41FA5}">
                      <a16:colId xmlns:a16="http://schemas.microsoft.com/office/drawing/2014/main" val="3200669110"/>
                    </a:ext>
                  </a:extLst>
                </a:gridCol>
                <a:gridCol w="757688">
                  <a:extLst>
                    <a:ext uri="{9D8B030D-6E8A-4147-A177-3AD203B41FA5}">
                      <a16:colId xmlns:a16="http://schemas.microsoft.com/office/drawing/2014/main" val="678753593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1128421731"/>
                    </a:ext>
                  </a:extLst>
                </a:gridCol>
                <a:gridCol w="890446">
                  <a:extLst>
                    <a:ext uri="{9D8B030D-6E8A-4147-A177-3AD203B41FA5}">
                      <a16:colId xmlns:a16="http://schemas.microsoft.com/office/drawing/2014/main" val="41178876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2009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2016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01720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Product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Quantity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Price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Quantity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Price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94506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Food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66623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Housing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80823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Movies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65251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785241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Calculating GDP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Simple UCSB Economy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1353066"/>
              </p:ext>
            </p:extLst>
          </p:nvPr>
        </p:nvGraphicFramePr>
        <p:xfrm>
          <a:off x="3312866" y="3074194"/>
          <a:ext cx="5566267" cy="1854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188771">
                  <a:extLst>
                    <a:ext uri="{9D8B030D-6E8A-4147-A177-3AD203B41FA5}">
                      <a16:colId xmlns:a16="http://schemas.microsoft.com/office/drawing/2014/main" val="3048119973"/>
                    </a:ext>
                  </a:extLst>
                </a:gridCol>
                <a:gridCol w="997267">
                  <a:extLst>
                    <a:ext uri="{9D8B030D-6E8A-4147-A177-3AD203B41FA5}">
                      <a16:colId xmlns:a16="http://schemas.microsoft.com/office/drawing/2014/main" val="3200669110"/>
                    </a:ext>
                  </a:extLst>
                </a:gridCol>
                <a:gridCol w="1291088">
                  <a:extLst>
                    <a:ext uri="{9D8B030D-6E8A-4147-A177-3AD203B41FA5}">
                      <a16:colId xmlns:a16="http://schemas.microsoft.com/office/drawing/2014/main" val="678753593"/>
                    </a:ext>
                  </a:extLst>
                </a:gridCol>
                <a:gridCol w="962398">
                  <a:extLst>
                    <a:ext uri="{9D8B030D-6E8A-4147-A177-3AD203B41FA5}">
                      <a16:colId xmlns:a16="http://schemas.microsoft.com/office/drawing/2014/main" val="1128421731"/>
                    </a:ext>
                  </a:extLst>
                </a:gridCol>
                <a:gridCol w="1126743">
                  <a:extLst>
                    <a:ext uri="{9D8B030D-6E8A-4147-A177-3AD203B41FA5}">
                      <a16:colId xmlns:a16="http://schemas.microsoft.com/office/drawing/2014/main" val="41178876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2009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2016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01720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Product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Quantity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Price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Quantity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Price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94506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Food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1000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1500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2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66623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Housing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100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150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150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80823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Movies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500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1000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65251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038054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Calculating GDP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Nominal GDP: Value of final goods and services evaluated at </a:t>
            </a:r>
            <a:r>
              <a:rPr lang="en-US" sz="2400" b="1" i="1" dirty="0"/>
              <a:t>current year prices</a:t>
            </a:r>
          </a:p>
          <a:p>
            <a:pPr lvl="1"/>
            <a:r>
              <a:rPr lang="en-US" sz="2000" dirty="0"/>
              <a:t>Total dollars exchanged</a:t>
            </a:r>
          </a:p>
          <a:p>
            <a:r>
              <a:rPr lang="en-US" sz="2400" dirty="0"/>
              <a:t>Real GDP: Value of final goods and services evaluated at </a:t>
            </a:r>
            <a:r>
              <a:rPr lang="en-US" sz="2400" b="1" i="1" dirty="0"/>
              <a:t>base year prices</a:t>
            </a:r>
          </a:p>
          <a:p>
            <a:pPr lvl="1"/>
            <a:r>
              <a:rPr lang="en-US" sz="2000" dirty="0"/>
              <a:t>Value of dollars exchanged if prices did not change from the prices in an arbitrary (base) year</a:t>
            </a:r>
          </a:p>
          <a:p>
            <a:r>
              <a:rPr lang="en-US" sz="2400" dirty="0"/>
              <a:t>GDP Deflator: Measure of how much nominal GDP changes are driven by price changes</a:t>
            </a:r>
          </a:p>
        </p:txBody>
      </p:sp>
    </p:spTree>
    <p:extLst>
      <p:ext uri="{BB962C8B-B14F-4D97-AF65-F5344CB8AC3E}">
        <p14:creationId xmlns:p14="http://schemas.microsoft.com/office/powerpoint/2010/main" val="398989003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000" dirty="0"/>
              <a:t>Using the Deflator to Calculate Price Increases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How much did prices increase between 2009 and 2017?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How much did real GDP increase between 2009 and 2017?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87868737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000" dirty="0"/>
              <a:t>Real GDP vs Nominal GDP with a single good</a:t>
            </a:r>
          </a:p>
        </p:txBody>
      </p:sp>
      <p:graphicFrame>
        <p:nvGraphicFramePr>
          <p:cNvPr id="4" name="Content Placeholder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02879679"/>
              </p:ext>
            </p:extLst>
          </p:nvPr>
        </p:nvGraphicFramePr>
        <p:xfrm>
          <a:off x="1866900" y="1690688"/>
          <a:ext cx="8458200" cy="43688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6112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9898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r>
                        <a:rPr lang="en-US" dirty="0"/>
                        <a:t>Movie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World Gross</a:t>
                      </a:r>
                    </a:p>
                    <a:p>
                      <a:pPr algn="ctr"/>
                      <a:r>
                        <a:rPr lang="en-US" dirty="0"/>
                        <a:t>(Nominal)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r>
                        <a:rPr lang="en-US" dirty="0"/>
                        <a:t>Movie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aseline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/>
                        <a:t>1. Avatar (2009)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$2,923,706,026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72740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/>
                        <a:t>2. Avengers: Endgame (2019)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$2,799,439,100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/>
                        <a:t>3. Avatar: The Way of Water (2022)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$2,320,250,281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/>
                        <a:t>4. Titanic (1997)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$2,264,743,305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/>
                        <a:t>5. Star</a:t>
                      </a:r>
                      <a:r>
                        <a:rPr lang="en-US" sz="1200" baseline="0" dirty="0"/>
                        <a:t> Wars: The Force Awakens (2015)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$2,071,310,218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92716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/>
                        <a:t>6. Avengers: Infinity War (2018)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$2,052,415,039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/>
                        <a:t>7. Spider-Man: No Way Home (2021)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$1,921,847,111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6076721"/>
                  </a:ext>
                </a:extLst>
              </a:tr>
              <a:tr h="391160">
                <a:tc>
                  <a:txBody>
                    <a:bodyPr/>
                    <a:lstStyle/>
                    <a:p>
                      <a:r>
                        <a:rPr lang="en-US" sz="1200" dirty="0"/>
                        <a:t>8.</a:t>
                      </a:r>
                      <a:r>
                        <a:rPr lang="en-US" sz="1200" baseline="0" dirty="0"/>
                        <a:t> </a:t>
                      </a:r>
                      <a:r>
                        <a:rPr lang="en-US" sz="1200" dirty="0"/>
                        <a:t>Jurassic</a:t>
                      </a:r>
                      <a:r>
                        <a:rPr lang="en-US" sz="1200" baseline="0" dirty="0"/>
                        <a:t> World (2015)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$1,671,537,444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/>
                        <a:t>9. The Lion King (2019)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$1,663,075,401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/>
                        <a:t>10. </a:t>
                      </a:r>
                      <a:r>
                        <a:rPr lang="en-US" sz="1200" baseline="0" dirty="0"/>
                        <a:t>The Avengers (2012)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$1,520,538,536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5617647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000" dirty="0"/>
              <a:t>Real GDP vs Nominal GDP with a single good</a:t>
            </a:r>
          </a:p>
        </p:txBody>
      </p:sp>
      <p:graphicFrame>
        <p:nvGraphicFramePr>
          <p:cNvPr id="5" name="Content Placeholder 4"/>
          <p:cNvGraphicFramePr>
            <a:graphicFrameLocks/>
          </p:cNvGraphicFramePr>
          <p:nvPr/>
        </p:nvGraphicFramePr>
        <p:xfrm>
          <a:off x="2024271" y="1431234"/>
          <a:ext cx="8237529" cy="49682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5525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513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260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993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07450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r>
                        <a:rPr lang="en-US" dirty="0"/>
                        <a:t>Movie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Worldwide Gross</a:t>
                      </a:r>
                    </a:p>
                    <a:p>
                      <a:pPr algn="ctr"/>
                      <a:r>
                        <a:rPr lang="en-US" dirty="0"/>
                        <a:t>(Nominal)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r>
                        <a:rPr lang="en-US" dirty="0"/>
                        <a:t>Movie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Ticket Sales</a:t>
                      </a:r>
                      <a:endParaRPr lang="en-US" baseline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/>
                        <a:t>1. Avatar (2009)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$2,923,706,026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1.</a:t>
                      </a:r>
                      <a:r>
                        <a:rPr lang="en-US" sz="1200" baseline="0"/>
                        <a:t> Gone w/the Wind (1939)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202,044,600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/>
                        <a:t>2. Avengers: Endgame (2019)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$2,799,439,100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2.</a:t>
                      </a:r>
                      <a:r>
                        <a:rPr lang="en-US" sz="1200" baseline="0">
                          <a:solidFill>
                            <a:schemeClr val="tx1"/>
                          </a:solidFill>
                        </a:rPr>
                        <a:t> Star Wars (1977)</a:t>
                      </a:r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178,119,600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/>
                        <a:t>3. Avatar: The Way </a:t>
                      </a:r>
                      <a:r>
                        <a:rPr lang="en-US" sz="1200"/>
                        <a:t>of Water (2022)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$2,320,250,281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3. Sound of Music (1965)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142,415,400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/>
                        <a:t>4. Titanic (1997)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$2,264,743,305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4. ET (1982)</a:t>
                      </a:r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141,854,300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1160">
                <a:tc>
                  <a:txBody>
                    <a:bodyPr/>
                    <a:lstStyle/>
                    <a:p>
                      <a:r>
                        <a:rPr lang="en-US" sz="1200" dirty="0"/>
                        <a:t>5. Star</a:t>
                      </a:r>
                      <a:r>
                        <a:rPr lang="en-US" sz="1200" baseline="0" dirty="0"/>
                        <a:t> Wars: The Force Awakens (2015)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$2,071,310,218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FF0000"/>
                          </a:solidFill>
                        </a:rPr>
                        <a:t>5. Titanic (1997)</a:t>
                      </a:r>
                      <a:endParaRPr lang="en-US" sz="1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135,474,500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/>
                        <a:t>6. Avengers: Infinity War (2018)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$2,052,415,039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6. The</a:t>
                      </a:r>
                      <a:r>
                        <a:rPr lang="en-US" sz="1200" baseline="0"/>
                        <a:t> Ten Commandments (1956)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131,000,000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/>
                        <a:t>7. Spider-Man: No Way Home (2021)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$1,921,847,111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7. Jaws (1975)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128,078,800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/>
                        <a:t>8.</a:t>
                      </a:r>
                      <a:r>
                        <a:rPr lang="en-US" sz="1200" baseline="0" dirty="0"/>
                        <a:t> </a:t>
                      </a:r>
                      <a:r>
                        <a:rPr lang="en-US" sz="1200" dirty="0"/>
                        <a:t>Jurassic</a:t>
                      </a:r>
                      <a:r>
                        <a:rPr lang="en-US" sz="1200" baseline="0" dirty="0"/>
                        <a:t> World (2015)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$1,671,537,444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8. Doctor Zhivago (1965)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124,135,500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/>
                        <a:t>9. The Lion King (2019)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$1,663,075,401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9. Exorcist</a:t>
                      </a:r>
                      <a:r>
                        <a:rPr lang="en-US" sz="1200" baseline="0"/>
                        <a:t> (1973</a:t>
                      </a:r>
                      <a:r>
                        <a:rPr lang="en-US" sz="1200"/>
                        <a:t>)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110,599,200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/>
                        <a:t>10. </a:t>
                      </a:r>
                      <a:r>
                        <a:rPr lang="en-US" sz="1200" baseline="0" dirty="0"/>
                        <a:t>The Avengers (2012)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$1,520,538,536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10. Snow White and the 7</a:t>
                      </a:r>
                      <a:r>
                        <a:rPr lang="en-US" sz="1200" baseline="0" dirty="0"/>
                        <a:t> Dwarfs (1937)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109,000,000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7030566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Stable Prices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752600"/>
            <a:ext cx="5638800" cy="4495800"/>
          </a:xfrm>
        </p:spPr>
        <p:txBody>
          <a:bodyPr/>
          <a:lstStyle/>
          <a:p>
            <a:pPr marL="0" indent="0">
              <a:buNone/>
            </a:pPr>
            <a:r>
              <a:rPr lang="en-US" sz="2400" b="1" dirty="0"/>
              <a:t>Goal 2: Stable Prices</a:t>
            </a:r>
          </a:p>
          <a:p>
            <a:pPr marL="0" indent="0">
              <a:buNone/>
            </a:pPr>
            <a:r>
              <a:rPr lang="en-US" sz="2400" dirty="0"/>
              <a:t>Inflation = Prices are rising</a:t>
            </a:r>
          </a:p>
          <a:p>
            <a:pPr marL="0" indent="0">
              <a:buNone/>
            </a:pPr>
            <a:r>
              <a:rPr lang="en-US" sz="2400" dirty="0"/>
              <a:t>Deflation = Prices are falling</a:t>
            </a:r>
          </a:p>
          <a:p>
            <a:pPr marL="0" indent="0">
              <a:buNone/>
            </a:pPr>
            <a:r>
              <a:rPr lang="en-US" sz="2400" dirty="0"/>
              <a:t>How much do consumers care about all prices?</a:t>
            </a:r>
          </a:p>
          <a:p>
            <a:pPr marL="0" indent="0">
              <a:buNone/>
            </a:pPr>
            <a:r>
              <a:rPr lang="en-US" sz="2400" dirty="0"/>
              <a:t>What is the ideal level of inflation/deflation?</a:t>
            </a:r>
          </a:p>
        </p:txBody>
      </p:sp>
      <p:pic>
        <p:nvPicPr>
          <p:cNvPr id="5" name="Picture 4" descr="A balance scale with a rock and a ball on it&#10;&#10;Description automatically generated">
            <a:extLst>
              <a:ext uri="{FF2B5EF4-FFF2-40B4-BE49-F238E27FC236}">
                <a16:creationId xmlns:a16="http://schemas.microsoft.com/office/drawing/2014/main" id="{6B8772A1-9778-396F-0258-F0FCA39FA628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90371" y="1690688"/>
            <a:ext cx="3962400" cy="396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799770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28600"/>
            <a:ext cx="10365697" cy="1810062"/>
          </a:xfrm>
        </p:spPr>
        <p:txBody>
          <a:bodyPr/>
          <a:lstStyle/>
          <a:p>
            <a:pPr algn="ctr"/>
            <a:r>
              <a:rPr lang="en-US" dirty="0"/>
              <a:t>Federal Reserve’s “Stable Prices”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br>
              <a:rPr lang="en-US" sz="2000" b="1" dirty="0"/>
            </a:br>
            <a:br>
              <a:rPr lang="en-US" sz="2000" b="1" dirty="0"/>
            </a:br>
            <a:r>
              <a:rPr lang="en-US" sz="2000" b="1" dirty="0"/>
              <a:t>Why is the inflation target not higher?</a:t>
            </a:r>
            <a:endParaRPr lang="en-US" sz="1600" b="1" dirty="0"/>
          </a:p>
          <a:p>
            <a:endParaRPr lang="en-US" sz="1600" b="1" dirty="0"/>
          </a:p>
          <a:p>
            <a:pPr marL="0" indent="0">
              <a:buNone/>
            </a:pPr>
            <a:r>
              <a:rPr lang="en-US" sz="1600" b="1" dirty="0"/>
              <a:t>Today —————————————6 Months———————————1 Year</a:t>
            </a:r>
          </a:p>
          <a:p>
            <a:pPr marL="0" indent="0">
              <a:buNone/>
            </a:pPr>
            <a:r>
              <a:rPr lang="en-US" sz="1600" b="1" dirty="0"/>
              <a:t>Invest, Prepare —————————Produce—————————Sell at Expected Price</a:t>
            </a:r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800" dirty="0"/>
              <a:t>As prices rise, workers expect cost-of-living adjustments/wage increases </a:t>
            </a:r>
          </a:p>
          <a:p>
            <a:pPr marL="0" indent="0">
              <a:buNone/>
            </a:pPr>
            <a:r>
              <a:rPr lang="en-US" sz="1800" dirty="0"/>
              <a:t>Example: Inflation is 25% away than expectations.</a:t>
            </a:r>
          </a:p>
          <a:p>
            <a:pPr marL="0" indent="0">
              <a:buNone/>
            </a:pPr>
            <a:r>
              <a:rPr lang="en-US" sz="1800" dirty="0"/>
              <a:t>If inflation expectations are 2%, inflation range is 1.5% to 2.5% </a:t>
            </a:r>
          </a:p>
          <a:p>
            <a:pPr marL="0" indent="0">
              <a:buNone/>
            </a:pPr>
            <a:r>
              <a:rPr lang="en-US" sz="1800" dirty="0"/>
              <a:t>If inflation expectations are 50%, inflation ranges from 37.5% to 62.5%</a:t>
            </a:r>
          </a:p>
          <a:p>
            <a:pPr marL="344487" lvl="1" indent="0"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37.5% inflation, firms don’t sell at high enough prices to pay input costs.﻿</a:t>
            </a:r>
          </a:p>
          <a:p>
            <a:pPr marL="344487" lvl="1" indent="0"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﻿At 62.5% inflation, workers don’t get raises to match the increasing prices of goods.</a:t>
            </a:r>
          </a:p>
        </p:txBody>
      </p:sp>
      <p:pic>
        <p:nvPicPr>
          <p:cNvPr id="5" name="Picture 4" descr="A person pushing a shopping cart in a large room with a large target&#10;&#10;Description automatically generated">
            <a:extLst>
              <a:ext uri="{FF2B5EF4-FFF2-40B4-BE49-F238E27FC236}">
                <a16:creationId xmlns:a16="http://schemas.microsoft.com/office/drawing/2014/main" id="{DF694EB6-A76F-4756-9DED-726BC6AADFDA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841698" y="2355954"/>
            <a:ext cx="2362200" cy="236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284978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Federal Reserve’s “Stable Prices”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38300"/>
            <a:ext cx="5257800" cy="4477687"/>
          </a:xfrm>
        </p:spPr>
        <p:txBody>
          <a:bodyPr/>
          <a:lstStyle/>
          <a:p>
            <a:pPr marL="0" indent="0">
              <a:buNone/>
            </a:pPr>
            <a:r>
              <a:rPr lang="en-US" sz="1400" b="1" dirty="0"/>
              <a:t>Why is the inflation target not lower?</a:t>
            </a:r>
          </a:p>
          <a:p>
            <a:pPr marL="0" indent="0">
              <a:buNone/>
            </a:pPr>
            <a:r>
              <a:rPr lang="en-US" sz="1400" dirty="0"/>
              <a:t>Deflation:</a:t>
            </a:r>
          </a:p>
          <a:p>
            <a:pPr marL="0" indent="0">
              <a:buNone/>
            </a:pPr>
            <a:r>
              <a:rPr lang="en-US" sz="1400" dirty="0"/>
              <a:t>1. Consumer Response: When the prices of goods and services are expected to decrease, consumers delay purchases.</a:t>
            </a:r>
          </a:p>
          <a:p>
            <a:pPr marL="0" indent="0">
              <a:buNone/>
            </a:pPr>
            <a:r>
              <a:rPr lang="en-US" sz="1400" dirty="0"/>
              <a:t>Less spending = Less production = Lower GDP = Unemployment</a:t>
            </a:r>
          </a:p>
          <a:p>
            <a:pPr marL="0" indent="0">
              <a:buNone/>
            </a:pPr>
            <a:r>
              <a:rPr lang="en-US" sz="1400" dirty="0"/>
              <a:t>2. Debt Burden:</a:t>
            </a:r>
          </a:p>
          <a:p>
            <a:pPr marL="0" indent="0">
              <a:buNone/>
            </a:pPr>
            <a:r>
              <a:rPr lang="en-US" sz="1400" dirty="0"/>
              <a:t>Situation: $50,000 loan today, have to payback in 25 years $50,000 in 25 years is equivalent to $30,477 today at 2% inflation. Wages, prices, etc. rise, so the debt burden ($50,000) is less costly over time.</a:t>
            </a:r>
          </a:p>
          <a:p>
            <a:pPr marL="0" indent="0">
              <a:buNone/>
            </a:pPr>
            <a:r>
              <a:rPr lang="en-US" sz="1400" dirty="0"/>
              <a:t>If prices are falling and interest rates don’t adjust, debt burden is growing! Deflation-still owe $50,000, but wage, prices, etc. have decreased! At 2% deflation for 25 years, $50,000 today is equivalent to $82,000 in 25 years!</a:t>
            </a:r>
          </a:p>
          <a:p>
            <a:pPr marL="0" indent="0">
              <a:buNone/>
            </a:pPr>
            <a:r>
              <a:rPr lang="en-US" sz="1400" dirty="0"/>
              <a:t>3. Wage Adjustments</a:t>
            </a:r>
          </a:p>
          <a:p>
            <a:pPr marL="0" indent="0">
              <a:buNone/>
            </a:pPr>
            <a:r>
              <a:rPr lang="en-US" sz="1400" dirty="0"/>
              <a:t>Real Wage Growth = Nominal Wage Growth –Inflation Rate</a:t>
            </a:r>
          </a:p>
          <a:p>
            <a:pPr marL="0" indent="0">
              <a:buNone/>
            </a:pPr>
            <a:r>
              <a:rPr lang="en-US" sz="1400" dirty="0"/>
              <a:t>Easier to decrease real wage than nominal wage</a:t>
            </a:r>
          </a:p>
        </p:txBody>
      </p:sp>
      <p:pic>
        <p:nvPicPr>
          <p:cNvPr id="5" name="Picture 4" descr="A group of people standing on a piece of concrete&#10;&#10;Description automatically generated">
            <a:extLst>
              <a:ext uri="{FF2B5EF4-FFF2-40B4-BE49-F238E27FC236}">
                <a16:creationId xmlns:a16="http://schemas.microsoft.com/office/drawing/2014/main" id="{5CF332A1-E11C-4A67-A63C-B931B844AD3C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24600" y="1638300"/>
            <a:ext cx="4678180" cy="4678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653125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Consumer Price Index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dirty="0"/>
              <a:t>GDP Deflator Growth: measure of inflation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Do the prices of ALL goods and services matter to consumers?</a:t>
            </a:r>
          </a:p>
          <a:p>
            <a:endParaRPr lang="en-US" sz="2000" dirty="0"/>
          </a:p>
        </p:txBody>
      </p:sp>
      <p:pic>
        <p:nvPicPr>
          <p:cNvPr id="5" name="Picture 4" descr="A shopping cart in front of a red and white background&#10;&#10;Description automatically generated">
            <a:extLst>
              <a:ext uri="{FF2B5EF4-FFF2-40B4-BE49-F238E27FC236}">
                <a16:creationId xmlns:a16="http://schemas.microsoft.com/office/drawing/2014/main" id="{A7EC4F63-926F-9561-2AE8-B0D4CB24EF58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66900" y="3429000"/>
            <a:ext cx="8458200" cy="2378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929421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Consumer Price Index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/>
              <a:t>How do we calculate an “average price” for all goods purchased by consumers?</a:t>
            </a:r>
          </a:p>
          <a:p>
            <a:endParaRPr lang="en-US" sz="2000" dirty="0"/>
          </a:p>
          <a:p>
            <a:r>
              <a:rPr lang="en-US" sz="2000" b="1" dirty="0"/>
              <a:t>STEP 1: What do consumers purchase?</a:t>
            </a:r>
          </a:p>
          <a:p>
            <a:endParaRPr lang="en-US" sz="2000" dirty="0"/>
          </a:p>
          <a:p>
            <a:r>
              <a:rPr lang="en-US" sz="2000" dirty="0"/>
              <a:t>Determine basket of goods:</a:t>
            </a:r>
          </a:p>
          <a:p>
            <a:endParaRPr lang="en-US" sz="2000" dirty="0"/>
          </a:p>
        </p:txBody>
      </p:sp>
      <p:pic>
        <p:nvPicPr>
          <p:cNvPr id="9" name="Picture 8" descr="A basket full of food&#10;&#10;Description automatically generated">
            <a:extLst>
              <a:ext uri="{FF2B5EF4-FFF2-40B4-BE49-F238E27FC236}">
                <a16:creationId xmlns:a16="http://schemas.microsoft.com/office/drawing/2014/main" id="{316DBAE4-3A54-74A7-8CE9-2407C2A32F24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65334" y="4277452"/>
            <a:ext cx="8461332" cy="1202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692370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Consumer Price Index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/>
              <a:t>How do we calculate an “average price” for all goods purchased by consumers?</a:t>
            </a:r>
          </a:p>
          <a:p>
            <a:endParaRPr lang="en-US" sz="2000" dirty="0"/>
          </a:p>
          <a:p>
            <a:r>
              <a:rPr lang="en-US" sz="2000" b="1" dirty="0"/>
              <a:t>STEP 2: How heavy is each good in the basket?</a:t>
            </a:r>
          </a:p>
          <a:p>
            <a:endParaRPr lang="en-US" sz="2000" dirty="0"/>
          </a:p>
          <a:p>
            <a:r>
              <a:rPr lang="en-US" sz="2000" dirty="0"/>
              <a:t>Determine the weight of goods and services in the basket:</a:t>
            </a:r>
          </a:p>
          <a:p>
            <a:endParaRPr lang="en-US" sz="2000" dirty="0"/>
          </a:p>
        </p:txBody>
      </p:sp>
      <p:pic>
        <p:nvPicPr>
          <p:cNvPr id="5" name="Picture 4" descr="A group of objects on a table&#10;&#10;Description automatically generated">
            <a:extLst>
              <a:ext uri="{FF2B5EF4-FFF2-40B4-BE49-F238E27FC236}">
                <a16:creationId xmlns:a16="http://schemas.microsoft.com/office/drawing/2014/main" id="{BA7E5EEC-DB63-81E1-313B-AF63C00A3063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28800" y="4325287"/>
            <a:ext cx="8534400" cy="1212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464312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Consumer Price Index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/>
              <a:t>How do we calculate an “average price” for all goods purchased by consumers?</a:t>
            </a:r>
          </a:p>
          <a:p>
            <a:endParaRPr lang="en-US" sz="2000" dirty="0"/>
          </a:p>
          <a:p>
            <a:r>
              <a:rPr lang="en-US" sz="2000" b="1" dirty="0"/>
              <a:t>STEP 3: Calculate the weighted cost of a basket</a:t>
            </a:r>
          </a:p>
          <a:p>
            <a:pPr marL="0" indent="0">
              <a:buNone/>
            </a:pPr>
            <a:endParaRPr lang="en-US" sz="2000" dirty="0"/>
          </a:p>
          <a:p>
            <a:r>
              <a:rPr lang="en-US" sz="2000" dirty="0"/>
              <a:t>Similar to GDP, calculate the cost of the average good bought by a household</a:t>
            </a:r>
          </a:p>
          <a:p>
            <a:endParaRPr lang="en-US" sz="2000" dirty="0"/>
          </a:p>
        </p:txBody>
      </p:sp>
      <p:pic>
        <p:nvPicPr>
          <p:cNvPr id="5" name="Picture 4" descr="A bright light in a dark room&#10;&#10;Description automatically generated">
            <a:extLst>
              <a:ext uri="{FF2B5EF4-FFF2-40B4-BE49-F238E27FC236}">
                <a16:creationId xmlns:a16="http://schemas.microsoft.com/office/drawing/2014/main" id="{632224EE-5A85-4987-0E35-F2889D2ECB02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43100" y="4248463"/>
            <a:ext cx="8305800" cy="1180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579369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Consumer Price Index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11443"/>
            <a:ext cx="4572000" cy="4648200"/>
          </a:xfrm>
        </p:spPr>
        <p:txBody>
          <a:bodyPr/>
          <a:lstStyle/>
          <a:p>
            <a:pPr marL="0" indent="0">
              <a:buNone/>
            </a:pPr>
            <a:r>
              <a:rPr lang="en-US" sz="2000" b="1" dirty="0"/>
              <a:t>Calculate Base Year (BY) Basket Cost: BY Prices x BY Q</a:t>
            </a:r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r>
              <a:rPr lang="en-US" sz="2000" b="1" dirty="0"/>
              <a:t>Calculate Current Year (CY) Basket Cost: CY Prices x BY Q</a:t>
            </a:r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r>
              <a:rPr lang="en-US" sz="2000" b="1" dirty="0"/>
              <a:t>CPI = Ratio of Basket Costs</a:t>
            </a:r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r>
              <a:rPr lang="en-US" sz="2000" b="1" dirty="0"/>
              <a:t>Inflation = CPI Growth Rate</a:t>
            </a:r>
          </a:p>
          <a:p>
            <a:pPr marL="0" indent="0">
              <a:buNone/>
            </a:pPr>
            <a:endParaRPr lang="en-US" sz="3600" dirty="0"/>
          </a:p>
        </p:txBody>
      </p:sp>
      <p:pic>
        <p:nvPicPr>
          <p:cNvPr id="5" name="Picture 4" descr="A shopping cart with money flying out of it&#10;&#10;Description automatically generated">
            <a:extLst>
              <a:ext uri="{FF2B5EF4-FFF2-40B4-BE49-F238E27FC236}">
                <a16:creationId xmlns:a16="http://schemas.microsoft.com/office/drawing/2014/main" id="{54D40F91-81E3-5251-7177-7C950C71D386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81802" y="1690688"/>
            <a:ext cx="4267200" cy="426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780861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Consumer Price Index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371600"/>
            <a:ext cx="8229600" cy="5105400"/>
          </a:xfrm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sz="1600" b="1" dirty="0"/>
              <a:t>Base Year: 1982-1984 Average Weights/Prices, CPI = 100</a:t>
            </a:r>
          </a:p>
          <a:p>
            <a:pPr marL="0" indent="0">
              <a:buNone/>
            </a:pPr>
            <a:r>
              <a:rPr lang="en-US" sz="1600" b="1" dirty="0"/>
              <a:t>Today (November, 2024), CPI =316.44</a:t>
            </a:r>
          </a:p>
          <a:p>
            <a:pPr marL="0" indent="0">
              <a:buNone/>
            </a:pPr>
            <a:r>
              <a:rPr lang="en-US" sz="1600" b="1" dirty="0"/>
              <a:t>1950 CPI = 24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486A705-91C0-3F9F-CA7B-EF7437B61025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104869" y="1415413"/>
            <a:ext cx="7772400" cy="4027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757642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Is the CPI an accurate measure of inflation?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6718" y="1575216"/>
            <a:ext cx="5931587" cy="4343400"/>
          </a:xfrm>
        </p:spPr>
        <p:txBody>
          <a:bodyPr/>
          <a:lstStyle/>
          <a:p>
            <a:pPr marL="0" indent="0">
              <a:buNone/>
            </a:pPr>
            <a:r>
              <a:rPr lang="en-US" sz="1800" b="1" dirty="0"/>
              <a:t>Some Potential Problems with CPI</a:t>
            </a:r>
          </a:p>
          <a:p>
            <a:pPr marL="0" indent="0">
              <a:buNone/>
            </a:pPr>
            <a:endParaRPr lang="en-US" sz="1800" b="1" dirty="0"/>
          </a:p>
          <a:p>
            <a:pPr marL="0" indent="0">
              <a:buNone/>
            </a:pPr>
            <a:r>
              <a:rPr lang="en-US" sz="1800" b="1" dirty="0"/>
              <a:t>Substitution, quality, and new products can distort inflation measurements.</a:t>
            </a:r>
          </a:p>
          <a:p>
            <a:pPr marL="0" indent="0">
              <a:buNone/>
            </a:pPr>
            <a:endParaRPr lang="en-US" sz="1800" b="1" dirty="0"/>
          </a:p>
          <a:p>
            <a:pPr marL="0" indent="0">
              <a:buNone/>
            </a:pPr>
            <a:r>
              <a:rPr lang="en-US" sz="1800" b="1" dirty="0"/>
              <a:t>Consumers may change buying habits and price hikes may not always correlate with improved quality.</a:t>
            </a:r>
          </a:p>
          <a:p>
            <a:pPr marL="0" indent="0">
              <a:buNone/>
            </a:pPr>
            <a:endParaRPr lang="en-US" sz="1800" b="1" dirty="0"/>
          </a:p>
          <a:p>
            <a:pPr marL="0" indent="0">
              <a:buNone/>
            </a:pPr>
            <a:r>
              <a:rPr lang="en-US" sz="1800" b="1" dirty="0"/>
              <a:t>CPI doesn't cover new products or cheap stores/websites.</a:t>
            </a:r>
          </a:p>
          <a:p>
            <a:pPr marL="0" indent="0">
              <a:buNone/>
            </a:pPr>
            <a:endParaRPr lang="en-US" sz="1800" b="1" dirty="0"/>
          </a:p>
          <a:p>
            <a:pPr marL="0" indent="0">
              <a:buNone/>
            </a:pPr>
            <a:r>
              <a:rPr lang="en-US" sz="1800" b="1" dirty="0"/>
              <a:t>Economists believe it overestimates inflation by 0.5-1%.</a:t>
            </a:r>
          </a:p>
        </p:txBody>
      </p:sp>
      <p:pic>
        <p:nvPicPr>
          <p:cNvPr id="5" name="Picture 4" descr="A large city with a large tower&#10;&#10;Description automatically generated with medium confidence">
            <a:extLst>
              <a:ext uri="{FF2B5EF4-FFF2-40B4-BE49-F238E27FC236}">
                <a16:creationId xmlns:a16="http://schemas.microsoft.com/office/drawing/2014/main" id="{72298C97-CF9A-AE62-268F-9EC42E8B74E6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58306" y="1575216"/>
            <a:ext cx="4595494" cy="4595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920587"/>
      </p:ext>
    </p:extLst>
  </p:cSld>
  <p:clrMapOvr>
    <a:masterClrMapping/>
  </p:clrMapOvr>
</p:sld>
</file>

<file path=ppt/theme/theme1.xml><?xml version="1.0" encoding="utf-8"?>
<a:theme xmlns:a="http://schemas.openxmlformats.org/drawingml/2006/main" name="UCSBMacro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UCSBMacro" id="{F4B4EBA3-93E4-6147-9188-7272F8AC44DB}" vid="{CEC284AD-430E-A54E-AB77-F4A5EA244DF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UCSBMacro</Template>
  <TotalTime>102</TotalTime>
  <Words>2277</Words>
  <Application>Microsoft Macintosh PowerPoint</Application>
  <PresentationFormat>Widescreen</PresentationFormat>
  <Paragraphs>395</Paragraphs>
  <Slides>33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9" baseType="lpstr">
      <vt:lpstr>Aptos</vt:lpstr>
      <vt:lpstr>Aptos Display</vt:lpstr>
      <vt:lpstr>Arial</vt:lpstr>
      <vt:lpstr>Times New Roman</vt:lpstr>
      <vt:lpstr>Wingdings</vt:lpstr>
      <vt:lpstr>UCSBMacro</vt:lpstr>
      <vt:lpstr>ECON 002: Principles of Macroeconomics</vt:lpstr>
      <vt:lpstr>PowerPoint Presentation</vt:lpstr>
      <vt:lpstr>Measuring GDP</vt:lpstr>
      <vt:lpstr>Y = C + I + G + NX</vt:lpstr>
      <vt:lpstr>Incorporating Housing</vt:lpstr>
      <vt:lpstr>Y = C + I + G + NX</vt:lpstr>
      <vt:lpstr>Change in Private Inventories</vt:lpstr>
      <vt:lpstr>Y = C + I + G + NX</vt:lpstr>
      <vt:lpstr>Y = C + I + G + NX</vt:lpstr>
      <vt:lpstr>Y = C + I + G + NX</vt:lpstr>
      <vt:lpstr>Total US GDP</vt:lpstr>
      <vt:lpstr>State GDP by Country</vt:lpstr>
      <vt:lpstr>Alternative Measures of GDP</vt:lpstr>
      <vt:lpstr>Alternative Measures of GDP</vt:lpstr>
      <vt:lpstr>Shortcomings of GDP</vt:lpstr>
      <vt:lpstr>GDP and Well Being?</vt:lpstr>
      <vt:lpstr>Calculating GDP</vt:lpstr>
      <vt:lpstr>Calculating GDP</vt:lpstr>
      <vt:lpstr>Calculating GDP</vt:lpstr>
      <vt:lpstr>Calculating GDP</vt:lpstr>
      <vt:lpstr>Using the Deflator to Calculate Price Increases</vt:lpstr>
      <vt:lpstr>Real GDP vs Nominal GDP with a single good</vt:lpstr>
      <vt:lpstr>Real GDP vs Nominal GDP with a single good</vt:lpstr>
      <vt:lpstr>Stable Prices</vt:lpstr>
      <vt:lpstr>Federal Reserve’s “Stable Prices”</vt:lpstr>
      <vt:lpstr>Federal Reserve’s “Stable Prices”</vt:lpstr>
      <vt:lpstr>Consumer Price Index</vt:lpstr>
      <vt:lpstr>Consumer Price Index</vt:lpstr>
      <vt:lpstr>Consumer Price Index</vt:lpstr>
      <vt:lpstr>Consumer Price Index</vt:lpstr>
      <vt:lpstr>Consumer Price Index</vt:lpstr>
      <vt:lpstr>Consumer Price Index</vt:lpstr>
      <vt:lpstr>Is the CPI an accurate measure of inflation?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Matthew Lang</dc:creator>
  <cp:lastModifiedBy>Matthew Lang</cp:lastModifiedBy>
  <cp:revision>6</cp:revision>
  <dcterms:created xsi:type="dcterms:W3CDTF">2025-01-10T18:36:24Z</dcterms:created>
  <dcterms:modified xsi:type="dcterms:W3CDTF">2026-04-07T22:27:29Z</dcterms:modified>
</cp:coreProperties>
</file>